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Open Sans Medium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B0F41B-5CC0-4E7A-8108-A292DDFBAC4A}">
  <a:tblStyle styleId="{CFB0F41B-5CC0-4E7A-8108-A292DDFBAC4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OpenSansMedium-bold.fntdata"/><Relationship Id="rId23" Type="http://schemas.openxmlformats.org/officeDocument/2006/relationships/font" Target="fonts/OpenSans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Medium-boldItalic.fntdata"/><Relationship Id="rId25" Type="http://schemas.openxmlformats.org/officeDocument/2006/relationships/font" Target="fonts/OpenSansMedium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ce7694db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ece7694db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e7694db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e7694db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 title="Text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43600"/>
            <a:ext cx="1583524" cy="49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 title="SeaXOpenAI 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Text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43600"/>
            <a:ext cx="1583524" cy="49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" title="SeaXOpenAI 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 title="Text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75" y="243600"/>
            <a:ext cx="1583524" cy="49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 title="SeaXOpenAI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title="Text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75" y="243600"/>
            <a:ext cx="1583524" cy="49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8" title="SeaXOpenAI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jpg"/><Relationship Id="rId11" Type="http://schemas.openxmlformats.org/officeDocument/2006/relationships/image" Target="../media/image13.jpg"/><Relationship Id="rId10" Type="http://schemas.openxmlformats.org/officeDocument/2006/relationships/image" Target="../media/image16.png"/><Relationship Id="rId12" Type="http://schemas.openxmlformats.org/officeDocument/2006/relationships/image" Target="../media/image21.png"/><Relationship Id="rId9" Type="http://schemas.openxmlformats.org/officeDocument/2006/relationships/image" Target="../media/image12.jpg"/><Relationship Id="rId5" Type="http://schemas.openxmlformats.org/officeDocument/2006/relationships/image" Target="../media/image26.jpg"/><Relationship Id="rId6" Type="http://schemas.openxmlformats.org/officeDocument/2006/relationships/image" Target="../media/image5.png"/><Relationship Id="rId7" Type="http://schemas.openxmlformats.org/officeDocument/2006/relationships/image" Target="../media/image9.jpg"/><Relationship Id="rId8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hyperlink" Target="https://docs.google.com/document/d/19M9rk9q9W58gg4jRHu7U4pHdWAf06gQXWs2sRol94ls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/>
        </p:nvSpPr>
        <p:spPr>
          <a:xfrm>
            <a:off x="3886767" y="2272018"/>
            <a:ext cx="13704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9" title="Text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814" y="918392"/>
            <a:ext cx="3604372" cy="112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9" title="SeaXOpenAI 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4788" y="262117"/>
            <a:ext cx="1914432" cy="4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9"/>
          <p:cNvSpPr txBox="1"/>
          <p:nvPr/>
        </p:nvSpPr>
        <p:spPr>
          <a:xfrm>
            <a:off x="3559653" y="2278463"/>
            <a:ext cx="202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6 June 2026</a:t>
            </a:r>
            <a:endParaRPr b="0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Google Shape;35;p9"/>
          <p:cNvSpPr txBox="1"/>
          <p:nvPr/>
        </p:nvSpPr>
        <p:spPr>
          <a:xfrm>
            <a:off x="2961614" y="2900378"/>
            <a:ext cx="31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GUEST-OF-HONOR</a:t>
            </a:r>
            <a:endParaRPr b="1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1891413" y="3300165"/>
            <a:ext cx="16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00" lIns="72400" spcFirstLastPara="1" rIns="72400" wrap="square" tIns="72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" sz="1425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David Chen</a:t>
            </a:r>
            <a:endParaRPr b="1" i="0" sz="1425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9"/>
          <p:cNvSpPr txBox="1"/>
          <p:nvPr/>
        </p:nvSpPr>
        <p:spPr>
          <a:xfrm>
            <a:off x="1713622" y="3529471"/>
            <a:ext cx="202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00" lIns="72400" spcFirstLastPara="1" rIns="72400" wrap="square" tIns="72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Chief Product Officer</a:t>
            </a:r>
            <a:endParaRPr b="0" i="0" sz="95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Shopee</a:t>
            </a:r>
            <a:endParaRPr b="0" i="0" sz="95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Google Shape;38;p9"/>
          <p:cNvSpPr txBox="1"/>
          <p:nvPr/>
        </p:nvSpPr>
        <p:spPr>
          <a:xfrm>
            <a:off x="3738642" y="3300165"/>
            <a:ext cx="16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00" lIns="72400" spcFirstLastPara="1" rIns="72400" wrap="square" tIns="72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" sz="1425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Oliver Jay</a:t>
            </a:r>
            <a:endParaRPr b="1" i="0" sz="1425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9"/>
          <p:cNvSpPr txBox="1"/>
          <p:nvPr/>
        </p:nvSpPr>
        <p:spPr>
          <a:xfrm>
            <a:off x="3560851" y="3529471"/>
            <a:ext cx="202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00" lIns="72400" spcFirstLastPara="1" rIns="72400" wrap="square" tIns="72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Managing Director, International OpenAI</a:t>
            </a:r>
            <a:endParaRPr b="0" i="0" sz="95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9"/>
          <p:cNvSpPr txBox="1"/>
          <p:nvPr/>
        </p:nvSpPr>
        <p:spPr>
          <a:xfrm>
            <a:off x="5625205" y="3300165"/>
            <a:ext cx="170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00" lIns="72400" spcFirstLastPara="1" rIns="72400" wrap="square" tIns="72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" sz="1425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Thibault Sottiaux</a:t>
            </a:r>
            <a:endParaRPr b="1" i="0" sz="1425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" name="Google Shape;41;p9"/>
          <p:cNvSpPr txBox="1"/>
          <p:nvPr/>
        </p:nvSpPr>
        <p:spPr>
          <a:xfrm>
            <a:off x="5447407" y="3529471"/>
            <a:ext cx="2022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00" lIns="72400" spcFirstLastPara="1" rIns="72400" wrap="square" tIns="72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Head of Codex</a:t>
            </a:r>
            <a:br>
              <a:rPr b="0" i="0" lang="en" sz="9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9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95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882625" y="1428750"/>
            <a:ext cx="7412100" cy="3512400"/>
          </a:xfrm>
          <a:prstGeom prst="roundRect">
            <a:avLst>
              <a:gd fmla="val 3226" name="adj"/>
            </a:avLst>
          </a:prstGeom>
          <a:solidFill>
            <a:srgbClr val="000000"/>
          </a:solidFill>
          <a:ln cap="flat" cmpd="sng" w="19050">
            <a:solidFill>
              <a:srgbClr val="1E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Seating Arrangements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0"/>
          <p:cNvSpPr/>
          <p:nvPr/>
        </p:nvSpPr>
        <p:spPr>
          <a:xfrm>
            <a:off x="2959518" y="1539130"/>
            <a:ext cx="2328900" cy="319500"/>
          </a:xfrm>
          <a:prstGeom prst="roundRect">
            <a:avLst>
              <a:gd fmla="val 50000" name="adj"/>
            </a:avLst>
          </a:prstGeom>
          <a:solidFill>
            <a:srgbClr val="091422"/>
          </a:solidFill>
          <a:ln cap="flat" cmpd="sng" w="16825">
            <a:solidFill>
              <a:srgbClr val="1A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50" name="Google Shape;50;p10"/>
          <p:cNvSpPr/>
          <p:nvPr/>
        </p:nvSpPr>
        <p:spPr>
          <a:xfrm>
            <a:off x="7880188" y="1567370"/>
            <a:ext cx="216900" cy="1251600"/>
          </a:xfrm>
          <a:prstGeom prst="roundRect">
            <a:avLst>
              <a:gd fmla="val 30769" name="adj"/>
            </a:avLst>
          </a:prstGeom>
          <a:solidFill>
            <a:srgbClr val="165016">
              <a:alpha val="35440"/>
            </a:srgbClr>
          </a:solidFill>
          <a:ln cap="flat" cmpd="sng" w="11600">
            <a:solidFill>
              <a:srgbClr val="165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3475297" y="2015999"/>
            <a:ext cx="1297200" cy="387900"/>
          </a:xfrm>
          <a:prstGeom prst="roundRect">
            <a:avLst>
              <a:gd fmla="val 17241" name="adj"/>
            </a:avLst>
          </a:prstGeom>
          <a:solidFill>
            <a:srgbClr val="0B1422"/>
          </a:solidFill>
          <a:ln cap="flat" cmpd="sng" w="224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52" name="Google Shape;52;p10"/>
          <p:cNvSpPr/>
          <p:nvPr/>
        </p:nvSpPr>
        <p:spPr>
          <a:xfrm>
            <a:off x="7868363" y="1617433"/>
            <a:ext cx="21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Arial"/>
              <a:buNone/>
            </a:pPr>
            <a:r>
              <a:rPr b="1" i="0" lang="en" sz="1004" u="none" cap="none" strike="noStrike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i="0" sz="100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7862450" y="1909472"/>
            <a:ext cx="21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Arial"/>
              <a:buNone/>
            </a:pPr>
            <a:r>
              <a:rPr b="1" i="0" lang="en" sz="1004" u="none" cap="none" strike="noStrike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endParaRPr i="0" sz="100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0"/>
          <p:cNvSpPr/>
          <p:nvPr/>
        </p:nvSpPr>
        <p:spPr>
          <a:xfrm>
            <a:off x="7880188" y="2201511"/>
            <a:ext cx="21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Arial"/>
              <a:buNone/>
            </a:pPr>
            <a:r>
              <a:rPr b="1" i="0" lang="en" sz="1004" u="none" cap="none" strike="noStrike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i="0" sz="100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7874275" y="2493550"/>
            <a:ext cx="21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Arial"/>
              <a:buNone/>
            </a:pPr>
            <a:r>
              <a:rPr b="1" i="0" lang="en" sz="1004" u="none" cap="none" strike="noStrike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i="0" sz="100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0"/>
          <p:cNvSpPr/>
          <p:nvPr/>
        </p:nvSpPr>
        <p:spPr>
          <a:xfrm>
            <a:off x="3350885" y="1975575"/>
            <a:ext cx="1567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14"/>
              <a:buFont typeface="Arial Black"/>
              <a:buNone/>
            </a:pPr>
            <a:r>
              <a:rPr b="1" i="0" lang="en" sz="972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GOH</a:t>
            </a:r>
            <a:endParaRPr i="0" sz="972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" name="Google Shape;57;p10"/>
          <p:cNvGrpSpPr/>
          <p:nvPr/>
        </p:nvGrpSpPr>
        <p:grpSpPr>
          <a:xfrm>
            <a:off x="2129803" y="2532666"/>
            <a:ext cx="678682" cy="1976320"/>
            <a:chOff x="1319437" y="2660180"/>
            <a:chExt cx="768000" cy="2236415"/>
          </a:xfrm>
        </p:grpSpPr>
        <p:sp>
          <p:nvSpPr>
            <p:cNvPr id="58" name="Google Shape;58;p10"/>
            <p:cNvSpPr/>
            <p:nvPr/>
          </p:nvSpPr>
          <p:spPr>
            <a:xfrm>
              <a:off x="1400575" y="2720300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5"/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1400575" y="3282616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1400575" y="3844932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1400575" y="440724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1319437" y="266018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i="0" lang="en" sz="1237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1319437" y="3232301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i="0" lang="en" sz="1237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4" name="Google Shape;64;p10"/>
            <p:cNvSpPr/>
            <p:nvPr/>
          </p:nvSpPr>
          <p:spPr>
            <a:xfrm>
              <a:off x="1319437" y="3799248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i="0" lang="en" sz="1237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" name="Google Shape;65;p10"/>
            <p:cNvSpPr/>
            <p:nvPr/>
          </p:nvSpPr>
          <p:spPr>
            <a:xfrm>
              <a:off x="1319437" y="436619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i="0" lang="en" sz="1237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6" name="Google Shape;66;p10"/>
          <p:cNvGrpSpPr/>
          <p:nvPr/>
        </p:nvGrpSpPr>
        <p:grpSpPr>
          <a:xfrm>
            <a:off x="2933639" y="2532666"/>
            <a:ext cx="678682" cy="1976320"/>
            <a:chOff x="2233837" y="2665825"/>
            <a:chExt cx="768000" cy="2236415"/>
          </a:xfrm>
        </p:grpSpPr>
        <p:sp>
          <p:nvSpPr>
            <p:cNvPr id="67" name="Google Shape;67;p10"/>
            <p:cNvSpPr/>
            <p:nvPr/>
          </p:nvSpPr>
          <p:spPr>
            <a:xfrm>
              <a:off x="2317161" y="2720300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0"/>
            <p:cNvSpPr/>
            <p:nvPr/>
          </p:nvSpPr>
          <p:spPr>
            <a:xfrm>
              <a:off x="2317161" y="3282616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0"/>
            <p:cNvSpPr/>
            <p:nvPr/>
          </p:nvSpPr>
          <p:spPr>
            <a:xfrm>
              <a:off x="2317161" y="3844932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2317161" y="440724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2233837" y="266582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2233837" y="3237946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2233837" y="3804892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7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2233837" y="4371839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8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5" name="Google Shape;75;p10"/>
          <p:cNvGrpSpPr/>
          <p:nvPr/>
        </p:nvGrpSpPr>
        <p:grpSpPr>
          <a:xfrm>
            <a:off x="3737475" y="2532666"/>
            <a:ext cx="685010" cy="1979556"/>
            <a:chOff x="3141075" y="2649468"/>
            <a:chExt cx="775162" cy="2240077"/>
          </a:xfrm>
        </p:grpSpPr>
        <p:sp>
          <p:nvSpPr>
            <p:cNvPr id="76" name="Google Shape;76;p10"/>
            <p:cNvSpPr/>
            <p:nvPr/>
          </p:nvSpPr>
          <p:spPr>
            <a:xfrm>
              <a:off x="3233747" y="2720300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0"/>
            <p:cNvSpPr/>
            <p:nvPr/>
          </p:nvSpPr>
          <p:spPr>
            <a:xfrm>
              <a:off x="3233747" y="3282616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3233747" y="3844932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0"/>
            <p:cNvSpPr/>
            <p:nvPr/>
          </p:nvSpPr>
          <p:spPr>
            <a:xfrm>
              <a:off x="3233747" y="440724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0"/>
            <p:cNvSpPr/>
            <p:nvPr/>
          </p:nvSpPr>
          <p:spPr>
            <a:xfrm>
              <a:off x="3148237" y="2649468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9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3141075" y="3221589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2" name="Google Shape;82;p10"/>
            <p:cNvSpPr/>
            <p:nvPr/>
          </p:nvSpPr>
          <p:spPr>
            <a:xfrm>
              <a:off x="3148237" y="3781374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3148237" y="435914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12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4" name="Google Shape;84;p10"/>
          <p:cNvGrpSpPr/>
          <p:nvPr/>
        </p:nvGrpSpPr>
        <p:grpSpPr>
          <a:xfrm>
            <a:off x="4547632" y="2532666"/>
            <a:ext cx="685010" cy="1979556"/>
            <a:chOff x="4888925" y="2667915"/>
            <a:chExt cx="775162" cy="2240077"/>
          </a:xfrm>
        </p:grpSpPr>
        <p:sp>
          <p:nvSpPr>
            <p:cNvPr id="85" name="Google Shape;85;p10"/>
            <p:cNvSpPr/>
            <p:nvPr/>
          </p:nvSpPr>
          <p:spPr>
            <a:xfrm>
              <a:off x="4981597" y="2738747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4981597" y="3301063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4981597" y="3863379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4981597" y="4425695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4896087" y="266791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13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4888925" y="3240036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14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1" name="Google Shape;91;p10"/>
            <p:cNvSpPr/>
            <p:nvPr/>
          </p:nvSpPr>
          <p:spPr>
            <a:xfrm>
              <a:off x="4896087" y="3799821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15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4896087" y="4377592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16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3" name="Google Shape;93;p10"/>
          <p:cNvGrpSpPr/>
          <p:nvPr/>
        </p:nvGrpSpPr>
        <p:grpSpPr>
          <a:xfrm>
            <a:off x="5330424" y="2052320"/>
            <a:ext cx="688866" cy="2466661"/>
            <a:chOff x="5774738" y="2124353"/>
            <a:chExt cx="779524" cy="2791288"/>
          </a:xfrm>
        </p:grpSpPr>
        <p:sp>
          <p:nvSpPr>
            <p:cNvPr id="94" name="Google Shape;94;p10"/>
            <p:cNvSpPr/>
            <p:nvPr/>
          </p:nvSpPr>
          <p:spPr>
            <a:xfrm>
              <a:off x="5867409" y="2746396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7"/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5867409" y="3308712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5867409" y="387102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5867409" y="4433343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5774738" y="3247684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19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5781899" y="380747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20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5781899" y="438524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21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5774762" y="268211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18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5867409" y="218045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7"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5786262" y="2124353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17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4" name="Google Shape;104;p10"/>
          <p:cNvGrpSpPr/>
          <p:nvPr/>
        </p:nvGrpSpPr>
        <p:grpSpPr>
          <a:xfrm>
            <a:off x="6071150" y="2052320"/>
            <a:ext cx="688866" cy="2466661"/>
            <a:chOff x="5774738" y="2124353"/>
            <a:chExt cx="779524" cy="2791288"/>
          </a:xfrm>
        </p:grpSpPr>
        <p:sp>
          <p:nvSpPr>
            <p:cNvPr id="105" name="Google Shape;105;p10"/>
            <p:cNvSpPr/>
            <p:nvPr/>
          </p:nvSpPr>
          <p:spPr>
            <a:xfrm>
              <a:off x="5867409" y="2746396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5867409" y="3308712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5867409" y="387102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5867409" y="4433343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5774738" y="3247684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5781899" y="380747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5781899" y="438524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5774762" y="268211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5867409" y="218045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5786262" y="2124353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5" name="Google Shape;115;p10"/>
          <p:cNvSpPr/>
          <p:nvPr/>
        </p:nvSpPr>
        <p:spPr>
          <a:xfrm>
            <a:off x="1094620" y="1539132"/>
            <a:ext cx="1435200" cy="216900"/>
          </a:xfrm>
          <a:prstGeom prst="roundRect">
            <a:avLst>
              <a:gd fmla="val 30769" name="adj"/>
            </a:avLst>
          </a:prstGeom>
          <a:solidFill>
            <a:srgbClr val="CD4718">
              <a:alpha val="20890"/>
            </a:srgbClr>
          </a:solidFill>
          <a:ln cap="flat" cmpd="sng" w="116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8"/>
          </a:p>
        </p:txBody>
      </p:sp>
      <p:sp>
        <p:nvSpPr>
          <p:cNvPr id="116" name="Google Shape;116;p10"/>
          <p:cNvSpPr/>
          <p:nvPr/>
        </p:nvSpPr>
        <p:spPr>
          <a:xfrm>
            <a:off x="5523590" y="1533253"/>
            <a:ext cx="2030400" cy="319500"/>
          </a:xfrm>
          <a:prstGeom prst="roundRect">
            <a:avLst>
              <a:gd fmla="val 50000" name="adj"/>
            </a:avLst>
          </a:prstGeom>
          <a:solidFill>
            <a:srgbClr val="091422"/>
          </a:solidFill>
          <a:ln cap="flat" cmpd="sng" w="16825">
            <a:solidFill>
              <a:srgbClr val="1A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117" name="Google Shape;117;p10"/>
          <p:cNvSpPr/>
          <p:nvPr/>
        </p:nvSpPr>
        <p:spPr>
          <a:xfrm>
            <a:off x="2709778" y="1504925"/>
            <a:ext cx="2828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CC"/>
              </a:buClr>
              <a:buSzPts val="972"/>
              <a:buFont typeface="Arial"/>
              <a:buNone/>
            </a:pPr>
            <a:r>
              <a:rPr b="1" i="0" lang="en" sz="972" u="none" cap="none" strike="noStrike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▲  STAGE  ▲</a:t>
            </a:r>
            <a:endParaRPr i="0" sz="972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5160168" y="1499043"/>
            <a:ext cx="2828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CC"/>
              </a:buClr>
              <a:buSzPts val="972"/>
              <a:buFont typeface="Arial"/>
              <a:buNone/>
            </a:pPr>
            <a:r>
              <a:rPr b="1" lang="en" sz="972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SCREEN</a:t>
            </a:r>
            <a:endParaRPr i="0" sz="972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094601" y="1539132"/>
            <a:ext cx="1435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82A"/>
              </a:buClr>
              <a:buSzPts val="684"/>
              <a:buFont typeface="Arial"/>
              <a:buNone/>
            </a:pPr>
            <a:r>
              <a:rPr b="1" lang="en" sz="1004">
                <a:solidFill>
                  <a:srgbClr val="FF5722"/>
                </a:solidFill>
                <a:latin typeface="Open Sans"/>
                <a:ea typeface="Open Sans"/>
                <a:cs typeface="Open Sans"/>
                <a:sym typeface="Open Sans"/>
              </a:rPr>
              <a:t>Food</a:t>
            </a:r>
            <a:r>
              <a:rPr b="1" i="0" lang="en" sz="1004" u="none" cap="none" strike="noStrike">
                <a:solidFill>
                  <a:srgbClr val="FF5722"/>
                </a:solidFill>
                <a:latin typeface="Open Sans"/>
                <a:ea typeface="Open Sans"/>
                <a:cs typeface="Open Sans"/>
                <a:sym typeface="Open Sans"/>
              </a:rPr>
              <a:t> Catering</a:t>
            </a:r>
            <a:endParaRPr i="0" sz="1004" u="none" cap="none" strike="noStrike">
              <a:solidFill>
                <a:srgbClr val="FF572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6071145" y="4587132"/>
            <a:ext cx="1435200" cy="216900"/>
          </a:xfrm>
          <a:prstGeom prst="roundRect">
            <a:avLst>
              <a:gd fmla="val 30769" name="adj"/>
            </a:avLst>
          </a:prstGeom>
          <a:solidFill>
            <a:srgbClr val="CD4718">
              <a:alpha val="20890"/>
            </a:srgbClr>
          </a:solidFill>
          <a:ln cap="flat" cmpd="sng" w="116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8"/>
          </a:p>
        </p:txBody>
      </p:sp>
      <p:sp>
        <p:nvSpPr>
          <p:cNvPr id="121" name="Google Shape;121;p10"/>
          <p:cNvSpPr/>
          <p:nvPr/>
        </p:nvSpPr>
        <p:spPr>
          <a:xfrm>
            <a:off x="6088722" y="4577106"/>
            <a:ext cx="1435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82A"/>
              </a:buClr>
              <a:buSzPts val="684"/>
              <a:buFont typeface="Arial"/>
              <a:buNone/>
            </a:pPr>
            <a:r>
              <a:rPr b="1" lang="en" sz="1004">
                <a:solidFill>
                  <a:srgbClr val="FF5722"/>
                </a:solidFill>
                <a:latin typeface="Open Sans"/>
                <a:ea typeface="Open Sans"/>
                <a:cs typeface="Open Sans"/>
                <a:sym typeface="Open Sans"/>
              </a:rPr>
              <a:t>Food</a:t>
            </a:r>
            <a:r>
              <a:rPr b="1" i="0" lang="en" sz="1004" u="none" cap="none" strike="noStrike">
                <a:solidFill>
                  <a:srgbClr val="FF5722"/>
                </a:solidFill>
                <a:latin typeface="Open Sans"/>
                <a:ea typeface="Open Sans"/>
                <a:cs typeface="Open Sans"/>
                <a:sym typeface="Open Sans"/>
              </a:rPr>
              <a:t> Catering</a:t>
            </a:r>
            <a:endParaRPr i="0" sz="1004" u="none" cap="none" strike="noStrike">
              <a:solidFill>
                <a:srgbClr val="FF572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6893780" y="2602019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6893780" y="3098938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6893780" y="3595856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6811886" y="3045008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39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6818215" y="3539690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6811907" y="2545214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6893780" y="2101900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6822070" y="2052320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37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182875" y="1466100"/>
            <a:ext cx="2560200" cy="2968200"/>
          </a:xfrm>
          <a:prstGeom prst="rect">
            <a:avLst/>
          </a:prstGeom>
          <a:solidFill>
            <a:srgbClr val="111111">
              <a:alpha val="85098"/>
            </a:srgbClr>
          </a:solidFill>
          <a:ln cap="flat" cmpd="sng" w="152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182880" y="1466088"/>
            <a:ext cx="2560200" cy="504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320040" y="1557528"/>
            <a:ext cx="228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Wifi Access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7" name="Google Shape;137;p11"/>
          <p:cNvCxnSpPr/>
          <p:nvPr/>
        </p:nvCxnSpPr>
        <p:spPr>
          <a:xfrm>
            <a:off x="320040" y="1923288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1"/>
          <p:cNvSpPr/>
          <p:nvPr/>
        </p:nvSpPr>
        <p:spPr>
          <a:xfrm>
            <a:off x="347472" y="199644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680"/>
              <a:buFont typeface="Arial"/>
              <a:buNone/>
            </a:pPr>
            <a:r>
              <a:rPr b="1" i="0" lang="en" sz="900" u="none" cap="none" strike="noStrike">
                <a:solidFill>
                  <a:srgbClr val="4A90D9"/>
                </a:solidFill>
                <a:latin typeface="Open Sans"/>
                <a:ea typeface="Open Sans"/>
                <a:cs typeface="Open Sans"/>
                <a:sym typeface="Open Sans"/>
              </a:rPr>
              <a:t>NETWORK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347472" y="218219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1"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hopee</a:t>
            </a: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-Guest-Devices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336889" y="2487337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680"/>
              <a:buFont typeface="Arial"/>
              <a:buNone/>
            </a:pPr>
            <a:r>
              <a:rPr b="1" i="0" lang="en" sz="900" u="none" cap="none" strike="noStrike">
                <a:solidFill>
                  <a:srgbClr val="4A90D9"/>
                </a:solidFill>
                <a:latin typeface="Open Sans"/>
                <a:ea typeface="Open Sans"/>
                <a:cs typeface="Open Sans"/>
                <a:sym typeface="Open Sans"/>
              </a:rPr>
              <a:t>STEPS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23672" y="3194304"/>
            <a:ext cx="210300" cy="2103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23672" y="3660648"/>
            <a:ext cx="210300" cy="2103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2871225" y="1466097"/>
            <a:ext cx="2834700" cy="2968200"/>
          </a:xfrm>
          <a:prstGeom prst="rect">
            <a:avLst/>
          </a:prstGeom>
          <a:solidFill>
            <a:srgbClr val="111111">
              <a:alpha val="85098"/>
            </a:srgbClr>
          </a:solidFill>
          <a:ln cap="flat" cmpd="sng" w="1522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2871216" y="1466088"/>
            <a:ext cx="2834700" cy="504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3008376" y="1557528"/>
            <a:ext cx="256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ChatGPT Pro Activation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11"/>
          <p:cNvCxnSpPr/>
          <p:nvPr/>
        </p:nvCxnSpPr>
        <p:spPr>
          <a:xfrm>
            <a:off x="3008376" y="1923288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1"/>
          <p:cNvSpPr/>
          <p:nvPr/>
        </p:nvSpPr>
        <p:spPr>
          <a:xfrm>
            <a:off x="3035808" y="2033016"/>
            <a:ext cx="210300" cy="210300"/>
          </a:xfrm>
          <a:prstGeom prst="ellipse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3310128" y="199644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Log into the ChatGPT </a:t>
            </a:r>
            <a:r>
              <a:rPr b="0" i="0" lang="en" sz="900" u="sng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Free</a:t>
            </a: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 account you want to upgrade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3035808" y="2490216"/>
            <a:ext cx="210300" cy="210300"/>
          </a:xfrm>
          <a:prstGeom prst="ellipse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310128" y="245364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Open the unique promo link from the activation email sent to you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5833875" y="1466100"/>
            <a:ext cx="3127200" cy="2968200"/>
          </a:xfrm>
          <a:prstGeom prst="rect">
            <a:avLst/>
          </a:prstGeom>
          <a:solidFill>
            <a:srgbClr val="111111">
              <a:alpha val="85098"/>
            </a:srgbClr>
          </a:solidFill>
          <a:ln cap="flat" cmpd="sng" w="152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833872" y="1466088"/>
            <a:ext cx="3127200" cy="50400"/>
          </a:xfrm>
          <a:prstGeom prst="rect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971032" y="1557528"/>
            <a:ext cx="285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Credits (USD 100)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4" name="Google Shape;154;p11"/>
          <p:cNvCxnSpPr/>
          <p:nvPr/>
        </p:nvCxnSpPr>
        <p:spPr>
          <a:xfrm>
            <a:off x="5971032" y="1923288"/>
            <a:ext cx="2853000" cy="0"/>
          </a:xfrm>
          <a:prstGeom prst="straightConnector1">
            <a:avLst/>
          </a:prstGeom>
          <a:noFill/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1"/>
          <p:cNvSpPr/>
          <p:nvPr/>
        </p:nvSpPr>
        <p:spPr>
          <a:xfrm>
            <a:off x="5998464" y="2033016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998464" y="2033016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272784" y="1947454"/>
            <a:ext cx="26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Go to platform.openai.com - log in or sign up.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5998464" y="2490216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998464" y="2490216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272784" y="2453640"/>
            <a:ext cx="262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For new users: click "Start building" in the top right corner and complete setup steps. You can skip adding members, generating an API key, adding credit card.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5998464" y="3075432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5998464" y="3075432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272784" y="3002570"/>
            <a:ext cx="26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Go to Settings → Billing → Promotions.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5998464" y="3532632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5998464" y="3532632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272784" y="3496056"/>
            <a:ext cx="262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Enter the unique coupon code sent to your email. </a:t>
            </a:r>
            <a:endParaRPr b="0" i="0" sz="900" u="none" cap="none" strike="noStrike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97992" y="2691384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Select </a:t>
            </a:r>
            <a:r>
              <a:rPr b="1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1" lang="en" sz="9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hopee</a:t>
            </a:r>
            <a:r>
              <a:rPr b="1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-Guest-Devices</a:t>
            </a: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 from WiFi list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97992" y="3157728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Browser prompt opens. Select </a:t>
            </a:r>
            <a:r>
              <a:rPr b="1" lang="en" sz="9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Accept</a:t>
            </a:r>
            <a:r>
              <a:rPr lang="en" sz="9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23672" y="3660648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97992" y="3624072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You're connected!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19439" y="3198537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37472" y="2743512"/>
            <a:ext cx="210300" cy="2103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32139" y="2741337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Tool Setup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984949" y="3299650"/>
            <a:ext cx="256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1" i="0" lang="en" sz="900" u="none" cap="none" strike="noStrike">
                <a:solidFill>
                  <a:srgbClr val="FF5621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endParaRPr b="1" i="0" sz="900" u="none" cap="none" strike="noStrike">
              <a:solidFill>
                <a:srgbClr val="FF562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Link is unique to you and can only be redeemed once. Do not share it.</a:t>
            </a:r>
            <a:endParaRPr b="0" i="0" sz="900" u="none" cap="none" strike="noStrike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You may be asked to provide a credit card for verification. Subscription will not auto renew.</a:t>
            </a:r>
            <a:endParaRPr b="0" i="0" sz="900" u="none" cap="none" strike="noStrike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946832" y="3934625"/>
            <a:ext cx="2892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1" i="0" lang="en" sz="900" u="none" cap="none" strike="noStrike">
                <a:solidFill>
                  <a:srgbClr val="12A37F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endParaRPr b="1" i="0" sz="900" u="none" cap="none" strike="noStrike">
              <a:solidFill>
                <a:srgbClr val="12A37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Coupon code is unique to you and can only be redeemed once. Do not share it.</a:t>
            </a:r>
            <a:endParaRPr b="0" i="0" sz="900" u="none" cap="none" strike="noStrike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00703" y="4534893"/>
            <a:ext cx="7812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75" lIns="84000" spcFirstLastPara="1" rIns="84000" wrap="square" tIns="41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4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 any setup issues, please reach out to our support crew.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3035808" y="2033016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035808" y="2490216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1809000" y="2912150"/>
            <a:ext cx="5526000" cy="365700"/>
          </a:xfrm>
          <a:prstGeom prst="rect">
            <a:avLst/>
          </a:prstGeom>
          <a:solidFill>
            <a:srgbClr val="FF5500">
              <a:alpha val="43529"/>
            </a:srgbClr>
          </a:solidFill>
          <a:ln cap="flat" cmpd="sng" w="9525">
            <a:solidFill>
              <a:srgbClr val="FF550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12"/>
          <p:cNvGraphicFramePr/>
          <p:nvPr/>
        </p:nvGraphicFramePr>
        <p:xfrm>
          <a:off x="2857500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{CFB0F41B-5CC0-4E7A-8108-A292DDFBAC4A}</a:tableStyleId>
              </a:tblPr>
              <a:tblGrid>
                <a:gridCol w="1404325"/>
                <a:gridCol w="395625"/>
                <a:gridCol w="2226425"/>
              </a:tblGrid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9:20 AM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Opening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10:00 AM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Hacking Starts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12:30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Working Lunch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2:30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Tea Break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5:00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Code Submission Deadline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5:00 PM - 7:15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Dinner + First Round Judging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7:15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 Round (Top 5)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8:30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Prize Presentations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9:00 PM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End of Event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9" name="Google Shape;189;p12"/>
          <p:cNvCxnSpPr/>
          <p:nvPr/>
        </p:nvCxnSpPr>
        <p:spPr>
          <a:xfrm>
            <a:off x="4457232" y="1669131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2"/>
          <p:cNvSpPr/>
          <p:nvPr/>
        </p:nvSpPr>
        <p:spPr>
          <a:xfrm>
            <a:off x="4406940" y="1979915"/>
            <a:ext cx="100500" cy="100500"/>
          </a:xfrm>
          <a:prstGeom prst="ellipse">
            <a:avLst/>
          </a:prstGeom>
          <a:solidFill>
            <a:srgbClr val="00C8B4"/>
          </a:solidFill>
          <a:ln cap="flat" cmpd="sng" w="952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2"/>
          <p:cNvCxnSpPr/>
          <p:nvPr/>
        </p:nvCxnSpPr>
        <p:spPr>
          <a:xfrm>
            <a:off x="4457232" y="2088058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12"/>
          <p:cNvCxnSpPr/>
          <p:nvPr/>
        </p:nvCxnSpPr>
        <p:spPr>
          <a:xfrm>
            <a:off x="4457232" y="2416358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2"/>
          <p:cNvSpPr/>
          <p:nvPr/>
        </p:nvSpPr>
        <p:spPr>
          <a:xfrm>
            <a:off x="4406940" y="2336661"/>
            <a:ext cx="100500" cy="100500"/>
          </a:xfrm>
          <a:prstGeom prst="ellipse">
            <a:avLst/>
          </a:prstGeom>
          <a:solidFill>
            <a:srgbClr val="0077DD"/>
          </a:solidFill>
          <a:ln cap="flat" cmpd="sng" w="952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406965" y="2671561"/>
            <a:ext cx="100500" cy="100500"/>
          </a:xfrm>
          <a:prstGeom prst="ellipse">
            <a:avLst/>
          </a:prstGeom>
          <a:solidFill>
            <a:srgbClr val="0077DD"/>
          </a:solidFill>
          <a:ln cap="flat" cmpd="sng" w="952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12"/>
          <p:cNvCxnSpPr/>
          <p:nvPr/>
        </p:nvCxnSpPr>
        <p:spPr>
          <a:xfrm>
            <a:off x="4457207" y="2763858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12"/>
          <p:cNvCxnSpPr/>
          <p:nvPr/>
        </p:nvCxnSpPr>
        <p:spPr>
          <a:xfrm>
            <a:off x="4457232" y="3117971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2"/>
          <p:cNvSpPr/>
          <p:nvPr/>
        </p:nvSpPr>
        <p:spPr>
          <a:xfrm>
            <a:off x="4406965" y="3044759"/>
            <a:ext cx="100500" cy="100500"/>
          </a:xfrm>
          <a:prstGeom prst="ellipse">
            <a:avLst/>
          </a:prstGeom>
          <a:solidFill>
            <a:srgbClr val="FF6633"/>
          </a:solidFill>
          <a:ln cap="flat" cmpd="sng" w="9525">
            <a:solidFill>
              <a:srgbClr val="FF6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>
            <a:off x="4457232" y="3472008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2"/>
          <p:cNvCxnSpPr/>
          <p:nvPr/>
        </p:nvCxnSpPr>
        <p:spPr>
          <a:xfrm>
            <a:off x="4457207" y="3818183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2"/>
          <p:cNvCxnSpPr/>
          <p:nvPr/>
        </p:nvCxnSpPr>
        <p:spPr>
          <a:xfrm>
            <a:off x="4457232" y="4131158"/>
            <a:ext cx="0" cy="310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2"/>
          <p:cNvSpPr/>
          <p:nvPr/>
        </p:nvSpPr>
        <p:spPr>
          <a:xfrm>
            <a:off x="4406965" y="4445290"/>
            <a:ext cx="100500" cy="100500"/>
          </a:xfrm>
          <a:prstGeom prst="ellipse">
            <a:avLst/>
          </a:prstGeom>
          <a:solidFill>
            <a:srgbClr val="0077DD"/>
          </a:solidFill>
          <a:ln cap="flat" cmpd="sng" w="952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406940" y="4109565"/>
            <a:ext cx="100500" cy="100500"/>
          </a:xfrm>
          <a:prstGeom prst="ellipse">
            <a:avLst/>
          </a:prstGeom>
          <a:solidFill>
            <a:srgbClr val="00C8B4"/>
          </a:solidFill>
          <a:ln cap="flat" cmpd="sng" w="952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406940" y="3728815"/>
            <a:ext cx="100500" cy="100500"/>
          </a:xfrm>
          <a:prstGeom prst="ellipse">
            <a:avLst/>
          </a:prstGeom>
          <a:solidFill>
            <a:srgbClr val="00C8B4"/>
          </a:solidFill>
          <a:ln cap="flat" cmpd="sng" w="952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406940" y="3401340"/>
            <a:ext cx="100500" cy="100500"/>
          </a:xfrm>
          <a:prstGeom prst="ellipse">
            <a:avLst/>
          </a:prstGeom>
          <a:solidFill>
            <a:srgbClr val="00C8B4"/>
          </a:solidFill>
          <a:ln cap="flat" cmpd="sng" w="952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406940" y="1622474"/>
            <a:ext cx="100500" cy="100500"/>
          </a:xfrm>
          <a:prstGeom prst="ellipse">
            <a:avLst/>
          </a:prstGeom>
          <a:solidFill>
            <a:srgbClr val="0077DD"/>
          </a:solidFill>
          <a:ln cap="flat" cmpd="sng" w="952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Build Directions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350525" y="1447800"/>
            <a:ext cx="2563200" cy="3182100"/>
          </a:xfrm>
          <a:prstGeom prst="rect">
            <a:avLst/>
          </a:prstGeom>
          <a:solidFill>
            <a:srgbClr val="0B1526"/>
          </a:solidFill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  <a:effectLst>
            <a:outerShdw blurRad="220984" rotWithShape="0" algn="bl" dir="8100000" dist="24554">
              <a:srgbClr val="000000">
                <a:alpha val="54901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350525" y="1447800"/>
            <a:ext cx="43800" cy="3182100"/>
          </a:xfrm>
          <a:prstGeom prst="rect">
            <a:avLst/>
          </a:prstGeom>
          <a:solidFill>
            <a:srgbClr val="00C2E0"/>
          </a:solidFill>
          <a:ln cap="flat" cmpd="sng" w="12275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2427777" y="1624587"/>
            <a:ext cx="353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870"/>
              <a:buFont typeface="Arial"/>
              <a:buNone/>
            </a:pPr>
            <a:r>
              <a:rPr b="1" i="0" lang="en" sz="1100" u="none" cap="none" strike="noStrike">
                <a:solidFill>
                  <a:srgbClr val="00C2E0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544991" y="1606908"/>
            <a:ext cx="18564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i="0" lang="en" sz="120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Autonomous &amp;</a:t>
            </a:r>
            <a:endParaRPr b="0" i="0" sz="12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i="0" lang="en" sz="120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Adaptive AI</a:t>
            </a:r>
            <a:endParaRPr b="0" i="0" sz="12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544991" y="2172627"/>
            <a:ext cx="2174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rPr b="0" i="1" lang="en" sz="900" u="none" cap="none" strike="noStrike">
                <a:solidFill>
                  <a:srgbClr val="7A8FA8"/>
                </a:solidFill>
                <a:latin typeface="Open Sans"/>
                <a:ea typeface="Open Sans"/>
                <a:cs typeface="Open Sans"/>
                <a:sym typeface="Open Sans"/>
              </a:rPr>
              <a:t>Agents that operate reliably without constant human oversight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7" name="Google Shape;217;p13"/>
          <p:cNvCxnSpPr/>
          <p:nvPr/>
        </p:nvCxnSpPr>
        <p:spPr>
          <a:xfrm>
            <a:off x="544991" y="2667631"/>
            <a:ext cx="2174400" cy="0"/>
          </a:xfrm>
          <a:prstGeom prst="straightConnector1">
            <a:avLst/>
          </a:prstGeom>
          <a:noFill/>
          <a:ln cap="flat" cmpd="sng" w="9525">
            <a:solidFill>
              <a:srgbClr val="00C2E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3"/>
          <p:cNvSpPr/>
          <p:nvPr/>
        </p:nvSpPr>
        <p:spPr>
          <a:xfrm>
            <a:off x="544991" y="2756024"/>
            <a:ext cx="217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773"/>
              <a:buFont typeface="Arial"/>
              <a:buNone/>
            </a:pPr>
            <a:r>
              <a:rPr b="1" i="0" lang="en" sz="900" u="none" cap="none" strike="noStrike">
                <a:solidFill>
                  <a:srgbClr val="00C2E0"/>
                </a:solidFill>
                <a:latin typeface="Open Sans"/>
                <a:ea typeface="Open Sans"/>
                <a:cs typeface="Open Sans"/>
                <a:sym typeface="Open Sans"/>
              </a:rPr>
              <a:t>What we're looking for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544991" y="3021205"/>
            <a:ext cx="21744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rPr b="0" i="0" lang="en" sz="1100" u="none" cap="none" strike="noStrike">
                <a:solidFill>
                  <a:srgbClr val="E8EDF5"/>
                </a:solidFill>
                <a:latin typeface="Open Sans"/>
                <a:ea typeface="Open Sans"/>
                <a:cs typeface="Open Sans"/>
                <a:sym typeface="Open Sans"/>
              </a:rPr>
              <a:t>Is this an agent you can trust to run autonomously - and does it get better the more it runs?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311715" y="1447800"/>
            <a:ext cx="2563200" cy="3182100"/>
          </a:xfrm>
          <a:prstGeom prst="rect">
            <a:avLst/>
          </a:prstGeom>
          <a:solidFill>
            <a:srgbClr val="0B1526"/>
          </a:solidFill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  <a:effectLst>
            <a:outerShdw blurRad="220984" rotWithShape="0" algn="bl" dir="8100000" dist="24554">
              <a:srgbClr val="000000">
                <a:alpha val="54901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3311715" y="1447800"/>
            <a:ext cx="43800" cy="3182100"/>
          </a:xfrm>
          <a:prstGeom prst="rect">
            <a:avLst/>
          </a:prstGeom>
          <a:solidFill>
            <a:srgbClr val="FF6030"/>
          </a:solidFill>
          <a:ln cap="flat" cmpd="sng" w="12275">
            <a:solidFill>
              <a:srgbClr val="FF6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388967" y="1624587"/>
            <a:ext cx="353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030"/>
              </a:buClr>
              <a:buSzPts val="870"/>
              <a:buFont typeface="Arial"/>
              <a:buNone/>
            </a:pPr>
            <a:r>
              <a:rPr b="1" i="0" lang="en" sz="1100" u="none" cap="none" strike="noStrike">
                <a:solidFill>
                  <a:srgbClr val="FF6030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3506181" y="1606908"/>
            <a:ext cx="18564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i="0" lang="en" sz="120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AI-Native Products</a:t>
            </a:r>
            <a:endParaRPr b="0" i="0" sz="12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i="0" lang="en" sz="120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&amp; Operations</a:t>
            </a:r>
            <a:endParaRPr b="0" i="0" sz="12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3506181" y="2172627"/>
            <a:ext cx="2174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rPr b="0" i="1" lang="en" sz="900" u="none" cap="none" strike="noStrike">
                <a:solidFill>
                  <a:srgbClr val="7A8FA8"/>
                </a:solidFill>
                <a:latin typeface="Open Sans"/>
                <a:ea typeface="Open Sans"/>
                <a:cs typeface="Open Sans"/>
                <a:sym typeface="Open Sans"/>
              </a:rPr>
              <a:t>Products, services, and operations fundamentally redesigned with AI - or something that simply couldn't exist before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5" name="Google Shape;225;p13"/>
          <p:cNvCxnSpPr/>
          <p:nvPr/>
        </p:nvCxnSpPr>
        <p:spPr>
          <a:xfrm>
            <a:off x="3506181" y="2667631"/>
            <a:ext cx="2174400" cy="0"/>
          </a:xfrm>
          <a:prstGeom prst="straightConnector1">
            <a:avLst/>
          </a:prstGeom>
          <a:noFill/>
          <a:ln cap="flat" cmpd="sng" w="9525">
            <a:solidFill>
              <a:srgbClr val="FF603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3"/>
          <p:cNvSpPr/>
          <p:nvPr/>
        </p:nvSpPr>
        <p:spPr>
          <a:xfrm>
            <a:off x="3506181" y="2756024"/>
            <a:ext cx="217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030"/>
              </a:buClr>
              <a:buSzPts val="773"/>
              <a:buFont typeface="Arial"/>
              <a:buNone/>
            </a:pPr>
            <a:r>
              <a:rPr b="1" i="0" lang="en" sz="900" u="none" cap="none" strike="noStrike">
                <a:solidFill>
                  <a:srgbClr val="FF6030"/>
                </a:solidFill>
                <a:latin typeface="Open Sans"/>
                <a:ea typeface="Open Sans"/>
                <a:cs typeface="Open Sans"/>
                <a:sym typeface="Open Sans"/>
              </a:rPr>
              <a:t>What we're looking for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3506181" y="3021205"/>
            <a:ext cx="21744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rPr b="0" i="0" lang="en" sz="1100" u="none" cap="none" strike="noStrike">
                <a:solidFill>
                  <a:srgbClr val="E8EDF5"/>
                </a:solidFill>
                <a:latin typeface="Open Sans"/>
                <a:ea typeface="Open Sans"/>
                <a:cs typeface="Open Sans"/>
                <a:sym typeface="Open Sans"/>
              </a:rPr>
              <a:t>What can users or businesses now do that wasn't realistically possible before?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264065" y="1447800"/>
            <a:ext cx="2563200" cy="3182100"/>
          </a:xfrm>
          <a:prstGeom prst="rect">
            <a:avLst/>
          </a:prstGeom>
          <a:solidFill>
            <a:srgbClr val="0B1526"/>
          </a:solidFill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  <a:effectLst>
            <a:outerShdw blurRad="220984" rotWithShape="0" algn="bl" dir="8100000" dist="24554">
              <a:srgbClr val="000000">
                <a:alpha val="54901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264065" y="1447800"/>
            <a:ext cx="43800" cy="3182100"/>
          </a:xfrm>
          <a:prstGeom prst="rect">
            <a:avLst/>
          </a:prstGeom>
          <a:solidFill>
            <a:srgbClr val="00D4A0"/>
          </a:solidFill>
          <a:ln cap="flat" cmpd="sng" w="12275">
            <a:solidFill>
              <a:srgbClr val="00D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8341317" y="1624587"/>
            <a:ext cx="353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0"/>
              </a:buClr>
              <a:buSzPts val="870"/>
              <a:buFont typeface="Arial"/>
              <a:buNone/>
            </a:pPr>
            <a:r>
              <a:rPr b="1" i="0" lang="en" sz="1100" u="none" cap="none" strike="noStrike">
                <a:solidFill>
                  <a:srgbClr val="00D4A0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458531" y="1606908"/>
            <a:ext cx="18564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i="0" lang="en" sz="120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Deep Domain AI</a:t>
            </a:r>
            <a:endParaRPr b="0" i="0" sz="12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458531" y="2172627"/>
            <a:ext cx="2174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rPr b="0" i="1" lang="en" sz="900" u="none" cap="none" strike="noStrike">
                <a:solidFill>
                  <a:srgbClr val="7A8FA8"/>
                </a:solidFill>
                <a:latin typeface="Open Sans"/>
                <a:ea typeface="Open Sans"/>
                <a:cs typeface="Open Sans"/>
                <a:sym typeface="Open Sans"/>
              </a:rPr>
              <a:t>AI that reflects how expert work is actually done - not a simplified version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3" name="Google Shape;233;p13"/>
          <p:cNvCxnSpPr/>
          <p:nvPr/>
        </p:nvCxnSpPr>
        <p:spPr>
          <a:xfrm>
            <a:off x="6458531" y="2667631"/>
            <a:ext cx="2174400" cy="0"/>
          </a:xfrm>
          <a:prstGeom prst="straightConnector1">
            <a:avLst/>
          </a:prstGeom>
          <a:noFill/>
          <a:ln cap="flat" cmpd="sng" w="9525">
            <a:solidFill>
              <a:srgbClr val="00D4A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3"/>
          <p:cNvSpPr/>
          <p:nvPr/>
        </p:nvSpPr>
        <p:spPr>
          <a:xfrm>
            <a:off x="6458531" y="2756024"/>
            <a:ext cx="217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0"/>
              </a:buClr>
              <a:buSzPts val="773"/>
              <a:buFont typeface="Arial"/>
              <a:buNone/>
            </a:pPr>
            <a:r>
              <a:rPr b="1" i="0" lang="en" sz="900" u="none" cap="none" strike="noStrike">
                <a:solidFill>
                  <a:srgbClr val="00D4A0"/>
                </a:solidFill>
                <a:latin typeface="Open Sans"/>
                <a:ea typeface="Open Sans"/>
                <a:cs typeface="Open Sans"/>
                <a:sym typeface="Open Sans"/>
              </a:rPr>
              <a:t>What we're looking for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458531" y="3021205"/>
            <a:ext cx="21744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rPr b="0" i="0" lang="en" sz="1100" u="none" cap="none" strike="noStrike">
                <a:solidFill>
                  <a:srgbClr val="E8EDF5"/>
                </a:solidFill>
                <a:latin typeface="Open Sans"/>
                <a:ea typeface="Open Sans"/>
                <a:cs typeface="Open Sans"/>
                <a:sym typeface="Open Sans"/>
              </a:rPr>
              <a:t>Would a domain expert trust this to do their job?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Judging Criteria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365760" y="1444752"/>
            <a:ext cx="2743200" cy="16002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365760" y="1444752"/>
            <a:ext cx="2743200" cy="41100"/>
          </a:xfrm>
          <a:prstGeom prst="rect">
            <a:avLst/>
          </a:prstGeom>
          <a:solidFill>
            <a:srgbClr val="FF5520"/>
          </a:solidFill>
          <a:ln cap="flat" cmpd="sng" w="12700">
            <a:solidFill>
              <a:srgbClr val="FF55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93776" y="153619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1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93776" y="1709928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&amp; Solution Fit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493776" y="2066544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Is the problem real?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Is the solution the right answer to it?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3218688" y="1444752"/>
            <a:ext cx="2743200" cy="16002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3218688" y="1444752"/>
            <a:ext cx="2743200" cy="41100"/>
          </a:xfrm>
          <a:prstGeom prst="rect">
            <a:avLst/>
          </a:prstGeom>
          <a:solidFill>
            <a:srgbClr val="3AB5F0"/>
          </a:solidFill>
          <a:ln cap="flat" cmpd="sng" w="12700">
            <a:solidFill>
              <a:srgbClr val="3AB5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3346704" y="153619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1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346704" y="1709928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Quality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3346704" y="2066544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Does it work and hold up under use?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We judge the product - not the pitch.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071616" y="1444752"/>
            <a:ext cx="2743200" cy="16002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071616" y="1444752"/>
            <a:ext cx="2743200" cy="41100"/>
          </a:xfrm>
          <a:prstGeom prst="rect">
            <a:avLst/>
          </a:prstGeom>
          <a:solidFill>
            <a:srgbClr val="31D990"/>
          </a:solidFill>
          <a:ln cap="flat" cmpd="sng" w="12700">
            <a:solidFill>
              <a:srgbClr val="31D9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199632" y="153619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b="1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199632" y="1709928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Insight &amp; Originality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199632" y="2066544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Is the approach genuinely novel, or just common industry practice?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365760" y="3154680"/>
            <a:ext cx="2743200" cy="16002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365760" y="3154680"/>
            <a:ext cx="2743200" cy="41100"/>
          </a:xfrm>
          <a:prstGeom prst="rect">
            <a:avLst/>
          </a:prstGeom>
          <a:solidFill>
            <a:srgbClr val="F7521F"/>
          </a:solidFill>
          <a:ln cap="flat" cmpd="sng" w="12700">
            <a:solidFill>
              <a:srgbClr val="F45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93776" y="3246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493776" y="3419856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Real-World Value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93776" y="3776472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Based on the working demo - who benefits, and how significantly?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3218688" y="3154680"/>
            <a:ext cx="2743200" cy="16002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3218688" y="3154680"/>
            <a:ext cx="2743200" cy="41100"/>
          </a:xfrm>
          <a:prstGeom prst="rect">
            <a:avLst/>
          </a:prstGeom>
          <a:solidFill>
            <a:srgbClr val="38AFE8"/>
          </a:solidFill>
          <a:ln cap="flat" cmpd="sng" w="12700">
            <a:solidFill>
              <a:srgbClr val="38AFE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3346704" y="3246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3346704" y="3419856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Alignment with Build Direction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3346704" y="3776472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Does the build meaningfully reflect at least one build direction?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071616" y="3154680"/>
            <a:ext cx="2743200" cy="16002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071616" y="3154680"/>
            <a:ext cx="2743200" cy="41100"/>
          </a:xfrm>
          <a:prstGeom prst="rect">
            <a:avLst/>
          </a:prstGeom>
          <a:solidFill>
            <a:srgbClr val="2FD28B"/>
          </a:solidFill>
          <a:ln cap="flat" cmpd="sng" w="12700">
            <a:solidFill>
              <a:srgbClr val="2FD2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199632" y="3246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199632" y="3419856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of Codex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199632" y="3776472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How deeply was Codex leveraged to build this product?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Judging Process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23675" y="1457509"/>
            <a:ext cx="4011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683"/>
              <a:buFont typeface="Calibri"/>
              <a:buNone/>
            </a:pPr>
            <a:r>
              <a:rPr b="1" i="0" lang="en" sz="1100" u="none" cap="none" strike="noStrike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PRESENTATION FORMAT (APPLIES TO BOTH ROUNDS)</a:t>
            </a:r>
            <a:endParaRPr b="0" i="0" sz="11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23675" y="1671485"/>
            <a:ext cx="8247000" cy="606300"/>
          </a:xfrm>
          <a:prstGeom prst="rect">
            <a:avLst/>
          </a:prstGeom>
          <a:solidFill>
            <a:srgbClr val="0D1420"/>
          </a:solidFill>
          <a:ln cap="flat" cmpd="sng" w="9525">
            <a:solidFill>
              <a:srgbClr val="1E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50" lIns="89150" spcFirstLastPara="1" rIns="89150" wrap="square" tIns="89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23675" y="1671475"/>
            <a:ext cx="62400" cy="606300"/>
          </a:xfrm>
          <a:prstGeom prst="rect">
            <a:avLst/>
          </a:prstGeom>
          <a:solidFill>
            <a:srgbClr val="3872C9"/>
          </a:solidFill>
          <a:ln cap="flat" cmpd="sng" w="12375">
            <a:solidFill>
              <a:srgbClr val="387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50" lIns="89150" spcFirstLastPara="1" rIns="89150" wrap="square" tIns="89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64396" y="1671485"/>
            <a:ext cx="2674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5"/>
              <a:buFont typeface="Calibri"/>
              <a:buNone/>
            </a:pP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 min  </a:t>
            </a:r>
            <a:r>
              <a:rPr b="0" i="0" lang="en" sz="1170" u="none" cap="none" strike="noStrike">
                <a:solidFill>
                  <a:srgbClr val="6A8BA8"/>
                </a:solidFill>
                <a:latin typeface="Open Sans"/>
                <a:ea typeface="Open Sans"/>
                <a:cs typeface="Open Sans"/>
                <a:sym typeface="Open Sans"/>
              </a:rPr>
              <a:t>Demo / Pitch</a:t>
            </a:r>
            <a:endParaRPr b="0" i="0" sz="1755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2" name="Google Shape;282;p15"/>
          <p:cNvCxnSpPr/>
          <p:nvPr/>
        </p:nvCxnSpPr>
        <p:spPr>
          <a:xfrm>
            <a:off x="2848717" y="1796304"/>
            <a:ext cx="0" cy="356700"/>
          </a:xfrm>
          <a:prstGeom prst="straightConnector1">
            <a:avLst/>
          </a:prstGeom>
          <a:noFill/>
          <a:ln cap="flat" cmpd="sng" w="12375">
            <a:solidFill>
              <a:srgbClr val="1E2E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5"/>
          <p:cNvSpPr/>
          <p:nvPr/>
        </p:nvSpPr>
        <p:spPr>
          <a:xfrm>
            <a:off x="3027029" y="1671485"/>
            <a:ext cx="22290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5"/>
              <a:buFont typeface="Calibri"/>
              <a:buNone/>
            </a:pP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 min  </a:t>
            </a:r>
            <a:r>
              <a:rPr b="0" i="0" lang="en" sz="1170" u="none" cap="none" strike="noStrike">
                <a:solidFill>
                  <a:srgbClr val="6A8BA8"/>
                </a:solidFill>
                <a:latin typeface="Open Sans"/>
                <a:ea typeface="Open Sans"/>
                <a:cs typeface="Open Sans"/>
                <a:sym typeface="Open Sans"/>
              </a:rPr>
              <a:t>Q&amp;A</a:t>
            </a:r>
            <a:endParaRPr b="0" i="0" sz="1755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4" name="Google Shape;284;p15"/>
          <p:cNvCxnSpPr/>
          <p:nvPr/>
        </p:nvCxnSpPr>
        <p:spPr>
          <a:xfrm>
            <a:off x="5033037" y="1796304"/>
            <a:ext cx="0" cy="356700"/>
          </a:xfrm>
          <a:prstGeom prst="straightConnector1">
            <a:avLst/>
          </a:prstGeom>
          <a:noFill/>
          <a:ln cap="flat" cmpd="sng" w="12375">
            <a:solidFill>
              <a:srgbClr val="1E2E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5"/>
          <p:cNvSpPr/>
          <p:nvPr/>
        </p:nvSpPr>
        <p:spPr>
          <a:xfrm>
            <a:off x="5211349" y="1671485"/>
            <a:ext cx="33879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878"/>
              <a:buFont typeface="Calibri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Cover your </a:t>
            </a:r>
            <a:r>
              <a:rPr b="1" i="0" lang="en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problem, solution, and use of Codex</a:t>
            </a:r>
            <a:r>
              <a:rPr b="0" i="0" lang="en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 Judges will score against the criteria shared - grounded in what you built and can demonstrate.</a:t>
            </a:r>
            <a:endParaRPr b="0"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23675" y="2399600"/>
            <a:ext cx="3874200" cy="2425200"/>
          </a:xfrm>
          <a:prstGeom prst="rect">
            <a:avLst/>
          </a:prstGeom>
          <a:solidFill>
            <a:srgbClr val="0A1221"/>
          </a:solidFill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50" lIns="89150" spcFirstLastPara="1" rIns="89150" wrap="square" tIns="89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595863" y="2595742"/>
            <a:ext cx="12915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80"/>
              <a:buFont typeface="Calibri"/>
              <a:buNone/>
            </a:pPr>
            <a:r>
              <a:rPr b="1" i="0" lang="en" sz="1100" u="none" cap="none" strike="noStrike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ROUND 1</a:t>
            </a:r>
            <a:endParaRPr b="1" i="0" sz="11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595863" y="2845378"/>
            <a:ext cx="3529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eorgia"/>
              <a:buNone/>
            </a:pPr>
            <a:r>
              <a:rPr b="1" i="0" lang="en" sz="17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Preliminary</a:t>
            </a:r>
            <a:endParaRPr b="0" i="0" sz="175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9" name="Google Shape;289;p15"/>
          <p:cNvCxnSpPr/>
          <p:nvPr/>
        </p:nvCxnSpPr>
        <p:spPr>
          <a:xfrm>
            <a:off x="595863" y="3308988"/>
            <a:ext cx="3546900" cy="0"/>
          </a:xfrm>
          <a:prstGeom prst="straightConnector1">
            <a:avLst/>
          </a:prstGeom>
          <a:noFill/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5"/>
          <p:cNvSpPr/>
          <p:nvPr/>
        </p:nvSpPr>
        <p:spPr>
          <a:xfrm>
            <a:off x="595863" y="3424890"/>
            <a:ext cx="35298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i="0" lang="en" sz="107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 teams</a:t>
            </a:r>
            <a:endParaRPr b="0" i="0" sz="107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rPr b="0" i="0" lang="en" sz="975" u="none" cap="none" strike="noStrike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Each team presents to a dedicated pair of</a:t>
            </a:r>
            <a:endParaRPr b="0" i="0" sz="107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rPr b="0" i="0" lang="en" sz="975" u="none" cap="none" strike="noStrike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Sea &amp; OpenAI judges</a:t>
            </a:r>
            <a:endParaRPr b="0" i="0" sz="107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595863" y="4396687"/>
            <a:ext cx="3529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31"/>
              <a:buFont typeface="Calibri"/>
              <a:buNone/>
            </a:pPr>
            <a:r>
              <a:rPr b="1" i="0" lang="en" sz="1100" u="none" cap="none" strike="noStrike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TOP 5 ADVANCE TO FINALS</a:t>
            </a:r>
            <a:endParaRPr b="0" i="0" sz="11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2" name="Google Shape;292;p15"/>
          <p:cNvCxnSpPr/>
          <p:nvPr/>
        </p:nvCxnSpPr>
        <p:spPr>
          <a:xfrm>
            <a:off x="595863" y="4655239"/>
            <a:ext cx="3546900" cy="0"/>
          </a:xfrm>
          <a:prstGeom prst="straightConnector1">
            <a:avLst/>
          </a:prstGeom>
          <a:noFill/>
          <a:ln cap="flat" cmpd="sng" w="9525">
            <a:solidFill>
              <a:srgbClr val="1A3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5"/>
          <p:cNvSpPr/>
          <p:nvPr/>
        </p:nvSpPr>
        <p:spPr>
          <a:xfrm>
            <a:off x="4716979" y="2399600"/>
            <a:ext cx="3940800" cy="2425200"/>
          </a:xfrm>
          <a:prstGeom prst="rect">
            <a:avLst/>
          </a:prstGeom>
          <a:solidFill>
            <a:srgbClr val="0A1221"/>
          </a:solidFill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50" lIns="89150" spcFirstLastPara="1" rIns="89150" wrap="square" tIns="89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892124" y="2595743"/>
            <a:ext cx="13137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80"/>
              <a:buFont typeface="Calibri"/>
              <a:buNone/>
            </a:pPr>
            <a:r>
              <a:rPr b="1" i="0" lang="en" sz="1100" u="none" cap="none" strike="noStrike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ROUND 2</a:t>
            </a:r>
            <a:endParaRPr b="0" i="0" sz="11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892124" y="2845381"/>
            <a:ext cx="35907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eorgia"/>
              <a:buNone/>
            </a:pPr>
            <a:r>
              <a:rPr b="1" i="0" lang="en" sz="17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Finals</a:t>
            </a:r>
            <a:endParaRPr b="0" i="0" sz="175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6" name="Google Shape;296;p15"/>
          <p:cNvCxnSpPr/>
          <p:nvPr/>
        </p:nvCxnSpPr>
        <p:spPr>
          <a:xfrm>
            <a:off x="4892124" y="3308992"/>
            <a:ext cx="3608100" cy="0"/>
          </a:xfrm>
          <a:prstGeom prst="straightConnector1">
            <a:avLst/>
          </a:prstGeom>
          <a:noFill/>
          <a:ln cap="flat" cmpd="sng" w="952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5"/>
          <p:cNvSpPr/>
          <p:nvPr/>
        </p:nvSpPr>
        <p:spPr>
          <a:xfrm>
            <a:off x="4892124" y="3424895"/>
            <a:ext cx="35907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i="0" lang="en" sz="107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5 teams</a:t>
            </a:r>
            <a:endParaRPr b="0" i="0" sz="107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rPr b="0" i="0" lang="en" sz="975" u="none" cap="none" strike="noStrike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Present on the main stage in front of</a:t>
            </a:r>
            <a:endParaRPr b="0" i="0" sz="107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rPr b="0" i="0" lang="en" sz="975" u="none" cap="none" strike="noStrike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all participants &amp; a panel of final judges</a:t>
            </a:r>
            <a:endParaRPr b="0" i="0" sz="107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892124" y="4396697"/>
            <a:ext cx="35907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31"/>
              <a:buFont typeface="Calibri"/>
              <a:buNone/>
            </a:pPr>
            <a:r>
              <a:rPr b="1" i="0" lang="en" sz="1100" u="none" cap="none" strike="noStrike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TOP 3 ANNOUNCED AFTER THIS ROUND</a:t>
            </a:r>
            <a:endParaRPr b="0" i="0" sz="11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9" name="Google Shape;299;p15"/>
          <p:cNvCxnSpPr/>
          <p:nvPr/>
        </p:nvCxnSpPr>
        <p:spPr>
          <a:xfrm>
            <a:off x="4892124" y="4655250"/>
            <a:ext cx="3608100" cy="0"/>
          </a:xfrm>
          <a:prstGeom prst="straightConnector1">
            <a:avLst/>
          </a:prstGeom>
          <a:noFill/>
          <a:ln cap="flat" cmpd="sng" w="9525">
            <a:solidFill>
              <a:srgbClr val="1A3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5"/>
          <p:cNvSpPr/>
          <p:nvPr/>
        </p:nvSpPr>
        <p:spPr>
          <a:xfrm>
            <a:off x="428303" y="2399600"/>
            <a:ext cx="62400" cy="2425200"/>
          </a:xfrm>
          <a:prstGeom prst="rect">
            <a:avLst/>
          </a:prstGeom>
          <a:solidFill>
            <a:srgbClr val="3872C9"/>
          </a:solidFill>
          <a:ln cap="flat" cmpd="sng" w="12275">
            <a:solidFill>
              <a:srgbClr val="387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121575" y="3284800"/>
            <a:ext cx="516300" cy="35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1E7FF"/>
          </a:solidFill>
          <a:ln cap="flat" cmpd="sng" w="9525">
            <a:solidFill>
              <a:srgbClr val="01E7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723040" y="2396909"/>
            <a:ext cx="62400" cy="2425200"/>
          </a:xfrm>
          <a:prstGeom prst="rect">
            <a:avLst/>
          </a:prstGeom>
          <a:solidFill>
            <a:srgbClr val="3872C9"/>
          </a:solidFill>
          <a:ln cap="flat" cmpd="sng" w="12275">
            <a:solidFill>
              <a:srgbClr val="387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Round One Judges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9" name="Google Shape;3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925" y="3290780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0" name="Google Shape;310;p16"/>
          <p:cNvSpPr txBox="1"/>
          <p:nvPr/>
        </p:nvSpPr>
        <p:spPr>
          <a:xfrm>
            <a:off x="821075" y="4504275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Sharan Thangavel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1" name="Google Shape;311;p16" title="Kevin Chan.jpg"/>
          <p:cNvPicPr preferRelativeResize="0"/>
          <p:nvPr/>
        </p:nvPicPr>
        <p:blipFill rotWithShape="1">
          <a:blip r:embed="rId4">
            <a:alphaModFix/>
          </a:blip>
          <a:srcRect b="-789" l="4312" r="12597" t="17698"/>
          <a:stretch/>
        </p:blipFill>
        <p:spPr>
          <a:xfrm>
            <a:off x="2344345" y="3290775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2" name="Google Shape;312;p16" title="Tyler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7764" y="3290775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16"/>
          <p:cNvPicPr preferRelativeResize="0"/>
          <p:nvPr/>
        </p:nvPicPr>
        <p:blipFill rotWithShape="1">
          <a:blip r:embed="rId6">
            <a:alphaModFix/>
          </a:blip>
          <a:srcRect b="0" l="890" r="-890" t="0"/>
          <a:stretch/>
        </p:blipFill>
        <p:spPr>
          <a:xfrm>
            <a:off x="5411184" y="3290775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4" name="Google Shape;314;p16" title="Indranil Sarkar.jpeg"/>
          <p:cNvPicPr preferRelativeResize="0"/>
          <p:nvPr/>
        </p:nvPicPr>
        <p:blipFill rotWithShape="1">
          <a:blip r:embed="rId7">
            <a:alphaModFix/>
          </a:blip>
          <a:srcRect b="0" l="1267" r="1277" t="0"/>
          <a:stretch/>
        </p:blipFill>
        <p:spPr>
          <a:xfrm>
            <a:off x="6944603" y="3290775"/>
            <a:ext cx="1208100" cy="1208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5" name="Google Shape;315;p16"/>
          <p:cNvSpPr txBox="1"/>
          <p:nvPr/>
        </p:nvSpPr>
        <p:spPr>
          <a:xfrm>
            <a:off x="1163160" y="4696382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2291602" y="4504275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Kevin Chan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2652123" y="4696382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3834666" y="4504332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Tyler Ryu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4231301" y="4688084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5363181" y="4504332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Zac Tan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5770215" y="4688084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6961854" y="4501108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Indranil Sarkar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7368888" y="4684860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4" name="Google Shape;324;p16" title="Yang Bo.jpeg"/>
          <p:cNvPicPr preferRelativeResize="0"/>
          <p:nvPr/>
        </p:nvPicPr>
        <p:blipFill rotWithShape="1">
          <a:blip r:embed="rId8">
            <a:alphaModFix/>
          </a:blip>
          <a:srcRect b="19622" l="3119" r="10233" t="10301"/>
          <a:stretch/>
        </p:blipFill>
        <p:spPr>
          <a:xfrm>
            <a:off x="810925" y="1555737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5" name="Google Shape;325;p16" title="Kelvin.jpeg"/>
          <p:cNvPicPr preferRelativeResize="0"/>
          <p:nvPr/>
        </p:nvPicPr>
        <p:blipFill rotWithShape="1">
          <a:blip r:embed="rId9">
            <a:alphaModFix/>
          </a:blip>
          <a:srcRect b="27683" l="30216" r="32530" t="16517"/>
          <a:stretch/>
        </p:blipFill>
        <p:spPr>
          <a:xfrm>
            <a:off x="2344345" y="1555737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6" name="Google Shape;326;p16" title="Terence.png"/>
          <p:cNvPicPr preferRelativeResize="0"/>
          <p:nvPr/>
        </p:nvPicPr>
        <p:blipFill rotWithShape="1">
          <a:blip r:embed="rId10">
            <a:alphaModFix/>
          </a:blip>
          <a:srcRect b="436" l="0" r="0" t="436"/>
          <a:stretch/>
        </p:blipFill>
        <p:spPr>
          <a:xfrm>
            <a:off x="3877764" y="1555737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7" name="Google Shape;327;p16" title="Amulya.jpe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11184" y="1555737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8" name="Google Shape;328;p16" title="Krishna Kannan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44603" y="1555737"/>
            <a:ext cx="1208100" cy="120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9" name="Google Shape;329;p16"/>
          <p:cNvSpPr txBox="1"/>
          <p:nvPr/>
        </p:nvSpPr>
        <p:spPr>
          <a:xfrm>
            <a:off x="1148919" y="2751675"/>
            <a:ext cx="6831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Yang Bo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1300197" y="2943782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2291602" y="2751675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Kelvin Ang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2813509" y="2943782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3834666" y="2751732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Terence Then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4358233" y="2935484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5363181" y="2751732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Amulya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5876772" y="2935484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6961854" y="2748508"/>
            <a:ext cx="1336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Krishna Kannan</a:t>
            </a:r>
            <a:endParaRPr b="1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7470352" y="2932260"/>
            <a:ext cx="62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75" lIns="84275" spcFirstLastPara="1" rIns="84275" wrap="square" tIns="8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</a:t>
            </a:r>
            <a:endParaRPr b="0" i="0" sz="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Final Round Judges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5" name="Google Shape;345;p17" title="David Chen.png"/>
          <p:cNvPicPr preferRelativeResize="0"/>
          <p:nvPr/>
        </p:nvPicPr>
        <p:blipFill rotWithShape="1">
          <a:blip r:embed="rId3">
            <a:alphaModFix/>
          </a:blip>
          <a:srcRect b="29403" l="13100" r="23059" t="2089"/>
          <a:stretch/>
        </p:blipFill>
        <p:spPr>
          <a:xfrm>
            <a:off x="1069650" y="1743450"/>
            <a:ext cx="2103300" cy="210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17"/>
          <p:cNvSpPr txBox="1"/>
          <p:nvPr/>
        </p:nvSpPr>
        <p:spPr>
          <a:xfrm>
            <a:off x="990800" y="3872281"/>
            <a:ext cx="21033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700" lIns="146700" spcFirstLastPara="1" rIns="146700" wrap="square" tIns="146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David Chen</a:t>
            </a:r>
            <a:endParaRPr b="1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Chief Product Officer</a:t>
            </a:r>
            <a:endParaRPr b="0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Shopee</a:t>
            </a:r>
            <a:endParaRPr b="0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7" name="Google Shape;347;p17" title="Dr He Ruimin.png"/>
          <p:cNvPicPr preferRelativeResize="0"/>
          <p:nvPr/>
        </p:nvPicPr>
        <p:blipFill rotWithShape="1">
          <a:blip r:embed="rId4">
            <a:alphaModFix/>
          </a:blip>
          <a:srcRect b="41502" l="11097" r="12262" t="7824"/>
          <a:stretch/>
        </p:blipFill>
        <p:spPr>
          <a:xfrm>
            <a:off x="3679975" y="1743450"/>
            <a:ext cx="2103300" cy="2103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8" name="Google Shape;348;p17" title="albertyip.jpeg"/>
          <p:cNvPicPr preferRelativeResize="0"/>
          <p:nvPr/>
        </p:nvPicPr>
        <p:blipFill rotWithShape="1">
          <a:blip r:embed="rId5">
            <a:alphaModFix/>
          </a:blip>
          <a:srcRect b="530" l="-495" r="1592" t="-530"/>
          <a:stretch/>
        </p:blipFill>
        <p:spPr>
          <a:xfrm>
            <a:off x="6290300" y="1743450"/>
            <a:ext cx="2103300" cy="210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9" name="Google Shape;349;p17"/>
          <p:cNvSpPr txBox="1"/>
          <p:nvPr/>
        </p:nvSpPr>
        <p:spPr>
          <a:xfrm>
            <a:off x="3583950" y="3872281"/>
            <a:ext cx="23370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700" lIns="146700" spcFirstLastPara="1" rIns="146700" wrap="square" tIns="146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Dr He Ruimin</a:t>
            </a:r>
            <a:endParaRPr b="1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Chief AI Officer</a:t>
            </a:r>
            <a:endParaRPr b="0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Ministry of Digital Development and Information</a:t>
            </a:r>
            <a:endParaRPr b="0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6209000" y="3872281"/>
            <a:ext cx="23370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700" lIns="146700" spcFirstLastPara="1" rIns="146700" wrap="square" tIns="146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Albert Yip</a:t>
            </a:r>
            <a:endParaRPr b="1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Head of Technical Success (APAC)</a:t>
            </a:r>
            <a:endParaRPr b="0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b="0" i="0" sz="1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/>
          <p:nvPr/>
        </p:nvSpPr>
        <p:spPr>
          <a:xfrm>
            <a:off x="628650" y="4343400"/>
            <a:ext cx="7866300" cy="302700"/>
          </a:xfrm>
          <a:prstGeom prst="roundRect">
            <a:avLst>
              <a:gd fmla="val 13793" name="adj"/>
            </a:avLst>
          </a:prstGeom>
          <a:solidFill>
            <a:srgbClr val="24110C"/>
          </a:solidFill>
          <a:ln cap="flat" cmpd="sng" w="10525">
            <a:solidFill>
              <a:srgbClr val="FF7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Hackathon Rules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671225" y="1553125"/>
            <a:ext cx="3785100" cy="2574300"/>
          </a:xfrm>
          <a:prstGeom prst="roundRect">
            <a:avLst>
              <a:gd fmla="val 2424" name="adj"/>
            </a:avLst>
          </a:prstGeom>
          <a:solidFill>
            <a:srgbClr val="0A0D12"/>
          </a:solidFill>
          <a:ln cap="flat" cmpd="sng" w="9525">
            <a:solidFill>
              <a:srgbClr val="25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t/>
            </a:r>
            <a:endParaRPr b="0" i="0" sz="13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92345" y="1734804"/>
            <a:ext cx="45600" cy="212100"/>
          </a:xfrm>
          <a:prstGeom prst="rect">
            <a:avLst/>
          </a:prstGeom>
          <a:solidFill>
            <a:srgbClr val="4E88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939181" y="1744358"/>
            <a:ext cx="2908800" cy="69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rPr b="1" i="0" lang="en" sz="1323" u="none" cap="none" strike="noStrike">
                <a:solidFill>
                  <a:srgbClr val="4E88FF"/>
                </a:solidFill>
                <a:latin typeface="Open Sans"/>
                <a:ea typeface="Open Sans"/>
                <a:cs typeface="Open Sans"/>
                <a:sym typeface="Open Sans"/>
              </a:rPr>
              <a:t>All work must be done on-site.</a:t>
            </a:r>
            <a:endParaRPr b="1" i="0" sz="1323" u="none" cap="none" strike="noStrike">
              <a:solidFill>
                <a:srgbClr val="4E88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92345" y="2347569"/>
            <a:ext cx="1362600" cy="166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3"/>
              <a:buFont typeface="Arial"/>
              <a:buNone/>
            </a:pPr>
            <a:r>
              <a:rPr b="1" i="0" lang="en" sz="1073" u="none" cap="none" strike="noStrike">
                <a:solidFill>
                  <a:srgbClr val="B6BEC9"/>
                </a:solidFill>
                <a:latin typeface="Open Sans"/>
                <a:ea typeface="Open Sans"/>
                <a:cs typeface="Open Sans"/>
                <a:sym typeface="Open Sans"/>
              </a:rPr>
              <a:t>You may either:</a:t>
            </a:r>
            <a:endParaRPr b="0" i="0" sz="111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792353" y="2707196"/>
            <a:ext cx="1650600" cy="933600"/>
          </a:xfrm>
          <a:prstGeom prst="roundRect">
            <a:avLst>
              <a:gd fmla="val 8333" name="adj"/>
            </a:avLst>
          </a:prstGeom>
          <a:solidFill>
            <a:srgbClr val="0F141C"/>
          </a:solidFill>
          <a:ln cap="flat" cmpd="sng" w="9525">
            <a:solidFill>
              <a:srgbClr val="1F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928605" y="2782910"/>
            <a:ext cx="333000" cy="19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4E88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928605" y="3051711"/>
            <a:ext cx="1332300" cy="302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 from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scratch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2578876" y="2707197"/>
            <a:ext cx="1756200" cy="933600"/>
          </a:xfrm>
          <a:prstGeom prst="roundRect">
            <a:avLst>
              <a:gd fmla="val 8333" name="adj"/>
            </a:avLst>
          </a:prstGeom>
          <a:solidFill>
            <a:srgbClr val="13110F"/>
          </a:solidFill>
          <a:ln cap="flat" cmpd="sng" w="9525">
            <a:solidFill>
              <a:srgbClr val="5F2E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2715126" y="2782910"/>
            <a:ext cx="333000" cy="19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FF7442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2715126" y="3051711"/>
            <a:ext cx="1438200" cy="318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on an existing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personal or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b="1" i="0" lang="en" sz="103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open-source project</a:t>
            </a:r>
            <a:endParaRPr b="0" i="0" sz="1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8" name="Google Shape;3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926" y="2067883"/>
            <a:ext cx="211959" cy="21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0554" y="2081003"/>
            <a:ext cx="225838" cy="22583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8"/>
          <p:cNvSpPr/>
          <p:nvPr/>
        </p:nvSpPr>
        <p:spPr>
          <a:xfrm>
            <a:off x="4709825" y="1544002"/>
            <a:ext cx="3785100" cy="2574300"/>
          </a:xfrm>
          <a:prstGeom prst="roundRect">
            <a:avLst>
              <a:gd fmla="val 2424" name="adj"/>
            </a:avLst>
          </a:prstGeom>
          <a:solidFill>
            <a:srgbClr val="0A0D12"/>
          </a:solidFill>
          <a:ln cap="flat" cmpd="sng" w="9525">
            <a:solidFill>
              <a:srgbClr val="25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t/>
            </a:r>
            <a:endParaRPr b="0" i="0" sz="13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977781" y="1735235"/>
            <a:ext cx="2908800" cy="69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rPr b="1" i="0" lang="en" sz="1323" u="none" cap="none" strike="noStrike">
                <a:solidFill>
                  <a:srgbClr val="4E88FF"/>
                </a:solidFill>
                <a:latin typeface="Open Sans"/>
                <a:ea typeface="Open Sans"/>
                <a:cs typeface="Open Sans"/>
                <a:sym typeface="Open Sans"/>
              </a:rPr>
              <a:t>Building on existing project</a:t>
            </a:r>
            <a:endParaRPr b="1" i="0" sz="1323" u="none" cap="none" strike="noStrike">
              <a:solidFill>
                <a:srgbClr val="4E88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2" name="Google Shape;3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3526" y="2058761"/>
            <a:ext cx="211959" cy="21195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8"/>
          <p:cNvSpPr/>
          <p:nvPr/>
        </p:nvSpPr>
        <p:spPr>
          <a:xfrm>
            <a:off x="4830945" y="1712126"/>
            <a:ext cx="45600" cy="212100"/>
          </a:xfrm>
          <a:prstGeom prst="rect">
            <a:avLst/>
          </a:prstGeom>
          <a:solidFill>
            <a:srgbClr val="4E88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4813815" y="2065947"/>
            <a:ext cx="3237000" cy="43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Allowed only if:</a:t>
            </a:r>
            <a:endParaRPr b="0" i="0" sz="11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4797839" y="2466935"/>
            <a:ext cx="105600" cy="105600"/>
          </a:xfrm>
          <a:prstGeom prst="ellipse">
            <a:avLst/>
          </a:prstGeom>
          <a:solidFill>
            <a:srgbClr val="31D6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5008621" y="2421768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 extensions are </a:t>
            </a: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significant and substantial</a:t>
            </a:r>
            <a:r>
              <a:rPr b="0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Only work built during the hackathon will be judged.</a:t>
            </a:r>
            <a:endParaRPr b="0" i="0" sz="11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4797839" y="2905398"/>
            <a:ext cx="105600" cy="105600"/>
          </a:xfrm>
          <a:prstGeom prst="ellipse">
            <a:avLst/>
          </a:prstGeom>
          <a:solidFill>
            <a:srgbClr val="4E88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5008621" y="2860230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Built in a new public repository.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4797839" y="3191461"/>
            <a:ext cx="105600" cy="105600"/>
          </a:xfrm>
          <a:prstGeom prst="ellipse">
            <a:avLst/>
          </a:prstGeom>
          <a:solidFill>
            <a:srgbClr val="FF744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5008621" y="3146293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Link to the existing repository / repositories must be provided in your README and submission form.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4797839" y="3629924"/>
            <a:ext cx="105600" cy="105600"/>
          </a:xfrm>
          <a:prstGeom prst="ellipse">
            <a:avLst/>
          </a:prstGeom>
          <a:solidFill>
            <a:srgbClr val="31D6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5008621" y="3584756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 clearly what was built during the hackathon in your README and submission form.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2455376" y="4398700"/>
            <a:ext cx="4731900" cy="210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Any infringement of these rules may result in disqualification.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What to Submit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935275" y="1417968"/>
            <a:ext cx="7812300" cy="462000"/>
          </a:xfrm>
          <a:prstGeom prst="rect">
            <a:avLst/>
          </a:prstGeom>
          <a:solidFill>
            <a:srgbClr val="FF5722">
              <a:alpha val="46666"/>
            </a:srgbClr>
          </a:solidFill>
          <a:ln cap="flat" cmpd="sng" w="1167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935275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098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935275" y="2048010"/>
            <a:ext cx="1764300" cy="50400"/>
          </a:xfrm>
          <a:prstGeom prst="rect">
            <a:avLst/>
          </a:prstGeom>
          <a:solidFill>
            <a:srgbClr val="00CFFF"/>
          </a:solidFill>
          <a:ln cap="flat" cmpd="sng" w="11675">
            <a:solidFill>
              <a:srgbClr val="00C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1069683" y="2199220"/>
            <a:ext cx="294300" cy="234900"/>
          </a:xfrm>
          <a:prstGeom prst="rect">
            <a:avLst/>
          </a:prstGeom>
          <a:solidFill>
            <a:srgbClr val="00CFFF">
              <a:alpha val="18039"/>
            </a:srgbClr>
          </a:solidFill>
          <a:ln cap="flat" cmpd="sng" w="11675">
            <a:solidFill>
              <a:srgbClr val="00C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1069683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FFF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00C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1052882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i="0" lang="en" sz="1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Repo</a:t>
            </a:r>
            <a:endParaRPr b="0" i="0" sz="11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9"/>
          <p:cNvCxnSpPr/>
          <p:nvPr/>
        </p:nvCxnSpPr>
        <p:spPr>
          <a:xfrm>
            <a:off x="1052882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9"/>
          <p:cNvSpPr/>
          <p:nvPr/>
        </p:nvSpPr>
        <p:spPr>
          <a:xfrm>
            <a:off x="1052882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AAAACC"/>
                </a:solidFill>
                <a:latin typeface="Arial"/>
                <a:ea typeface="Arial"/>
                <a:cs typeface="Arial"/>
                <a:sym typeface="Arial"/>
              </a:rPr>
              <a:t>New public repository </a:t>
            </a:r>
            <a:r>
              <a:rPr b="0" i="0" lang="en" sz="827" u="none" cap="none" strike="noStrike">
                <a:solidFill>
                  <a:srgbClr val="AAAACC"/>
                </a:solidFill>
                <a:latin typeface="Arial"/>
                <a:ea typeface="Arial"/>
                <a:cs typeface="Arial"/>
                <a:sym typeface="Arial"/>
              </a:rPr>
              <a:t>created for this hackathon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2926198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098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6"/>
              <a:buFont typeface="Arial"/>
              <a:buNone/>
            </a:pPr>
            <a:r>
              <a:t/>
            </a:r>
            <a:endParaRPr b="0" i="0" sz="12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2926198" y="2048010"/>
            <a:ext cx="1764300" cy="50400"/>
          </a:xfrm>
          <a:prstGeom prst="rect">
            <a:avLst/>
          </a:prstGeom>
          <a:solidFill>
            <a:srgbClr val="A259FF"/>
          </a:solidFill>
          <a:ln cap="flat" cmpd="sng" w="11675">
            <a:solidFill>
              <a:srgbClr val="A25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3060607" y="2199220"/>
            <a:ext cx="294300" cy="234900"/>
          </a:xfrm>
          <a:prstGeom prst="rect">
            <a:avLst/>
          </a:prstGeom>
          <a:solidFill>
            <a:srgbClr val="A259FF">
              <a:alpha val="18039"/>
            </a:srgbClr>
          </a:solidFill>
          <a:ln cap="flat" cmpd="sng" w="11675">
            <a:solidFill>
              <a:srgbClr val="A25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3060607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59FF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A259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3043806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i="0" lang="en" sz="1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Writeup</a:t>
            </a:r>
            <a:endParaRPr b="0" i="0" sz="11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19"/>
          <p:cNvCxnSpPr/>
          <p:nvPr/>
        </p:nvCxnSpPr>
        <p:spPr>
          <a:xfrm>
            <a:off x="3043806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9"/>
          <p:cNvSpPr/>
          <p:nvPr/>
        </p:nvSpPr>
        <p:spPr>
          <a:xfrm>
            <a:off x="3043806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0" i="0" lang="en" sz="827" u="none" cap="none" strike="noStrike">
                <a:solidFill>
                  <a:srgbClr val="AAAACC"/>
                </a:solidFill>
                <a:latin typeface="Arial"/>
                <a:ea typeface="Arial"/>
                <a:cs typeface="Arial"/>
                <a:sym typeface="Arial"/>
              </a:rPr>
              <a:t>Written summary of the problem, solution, build direction it aligns with, and how Codex was utilised.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4917122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098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4917122" y="2048010"/>
            <a:ext cx="1764300" cy="50400"/>
          </a:xfrm>
          <a:prstGeom prst="rect">
            <a:avLst/>
          </a:prstGeom>
          <a:solidFill>
            <a:srgbClr val="00E5A0"/>
          </a:solidFill>
          <a:ln cap="flat" cmpd="sng" w="1167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5051530" y="2199220"/>
            <a:ext cx="294300" cy="234900"/>
          </a:xfrm>
          <a:prstGeom prst="rect">
            <a:avLst/>
          </a:prstGeom>
          <a:solidFill>
            <a:srgbClr val="00E5A0">
              <a:alpha val="18039"/>
            </a:srgbClr>
          </a:solidFill>
          <a:ln cap="flat" cmpd="sng" w="1167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5051530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00E5A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5034729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i="0" lang="en" sz="1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 Link</a:t>
            </a:r>
            <a:endParaRPr b="0" i="0" sz="11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9"/>
          <p:cNvCxnSpPr/>
          <p:nvPr/>
        </p:nvCxnSpPr>
        <p:spPr>
          <a:xfrm>
            <a:off x="5034729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9"/>
          <p:cNvSpPr/>
          <p:nvPr/>
        </p:nvSpPr>
        <p:spPr>
          <a:xfrm>
            <a:off x="5034729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0" i="0" lang="en" sz="827" u="none" cap="none" strike="noStrike">
                <a:solidFill>
                  <a:srgbClr val="AAAACC"/>
                </a:solidFill>
                <a:latin typeface="Arial"/>
                <a:ea typeface="Arial"/>
                <a:cs typeface="Arial"/>
                <a:sym typeface="Arial"/>
              </a:rPr>
              <a:t>Live demo or prototype link  (optional)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6908045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098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6908045" y="2048010"/>
            <a:ext cx="1764300" cy="50400"/>
          </a:xfrm>
          <a:prstGeom prst="rect">
            <a:avLst/>
          </a:prstGeom>
          <a:solidFill>
            <a:srgbClr val="FFB830"/>
          </a:solidFill>
          <a:ln cap="flat" cmpd="sng" w="11675">
            <a:solidFill>
              <a:srgbClr val="FFB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7042454" y="2199220"/>
            <a:ext cx="294300" cy="234900"/>
          </a:xfrm>
          <a:prstGeom prst="rect">
            <a:avLst/>
          </a:prstGeom>
          <a:solidFill>
            <a:srgbClr val="FFB830">
              <a:alpha val="18039"/>
            </a:srgbClr>
          </a:solidFill>
          <a:ln cap="flat" cmpd="sng" w="11675">
            <a:solidFill>
              <a:srgbClr val="FFB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7042454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830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FFB8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7025653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i="0" lang="en" sz="1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Declarations</a:t>
            </a:r>
            <a:endParaRPr b="0" i="0" sz="11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19"/>
          <p:cNvCxnSpPr/>
          <p:nvPr/>
        </p:nvCxnSpPr>
        <p:spPr>
          <a:xfrm>
            <a:off x="7025653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9"/>
          <p:cNvSpPr/>
          <p:nvPr/>
        </p:nvSpPr>
        <p:spPr>
          <a:xfrm>
            <a:off x="7025653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0" i="0" lang="en" sz="827" u="none" cap="none" strike="noStrike">
                <a:solidFill>
                  <a:srgbClr val="AAAACC"/>
                </a:solidFill>
                <a:latin typeface="Arial"/>
                <a:ea typeface="Arial"/>
                <a:cs typeface="Arial"/>
                <a:sym typeface="Arial"/>
              </a:rPr>
              <a:t>State any existing OSS / personal project used, and what was built exclusively within this hackathon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935275" y="1417968"/>
            <a:ext cx="7812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75" lIns="84000" spcFirstLastPara="1" rIns="84000" wrap="square" tIns="41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4"/>
              <a:buFont typeface="Arial"/>
              <a:buNone/>
            </a:pPr>
            <a:r>
              <a:rPr b="0" i="0" lang="en" sz="11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Each team to make </a:t>
            </a:r>
            <a:r>
              <a:rPr b="1" i="0" lang="en" sz="11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submission</a:t>
            </a:r>
            <a:r>
              <a:rPr b="0" i="0" lang="en" sz="11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via Google Form by </a:t>
            </a:r>
            <a:r>
              <a:rPr b="1" i="0" lang="en" sz="11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5:00 PM sharp</a:t>
            </a:r>
            <a:r>
              <a:rPr b="0" i="0" lang="en" sz="11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-  Late submissions will be disqualified.</a:t>
            </a:r>
            <a:endParaRPr b="0" i="0" sz="11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Submission Form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6" name="Google Shape;426;p20"/>
          <p:cNvPicPr preferRelativeResize="0"/>
          <p:nvPr/>
        </p:nvPicPr>
        <p:blipFill rotWithShape="1">
          <a:blip r:embed="rId3">
            <a:alphaModFix/>
          </a:blip>
          <a:srcRect b="4273" l="3982" r="3640" t="3646"/>
          <a:stretch/>
        </p:blipFill>
        <p:spPr>
          <a:xfrm>
            <a:off x="2983829" y="1503975"/>
            <a:ext cx="3208400" cy="31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Prizes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33" name="Google Shape;433;p21" title="Asset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000" y="1545600"/>
            <a:ext cx="5526000" cy="286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"/>
          <p:cNvSpPr/>
          <p:nvPr/>
        </p:nvSpPr>
        <p:spPr>
          <a:xfrm>
            <a:off x="3445326" y="1775195"/>
            <a:ext cx="2371800" cy="2821800"/>
          </a:xfrm>
          <a:prstGeom prst="roundRect">
            <a:avLst>
              <a:gd fmla="val 5517" name="adj"/>
            </a:avLst>
          </a:prstGeom>
          <a:solidFill>
            <a:srgbClr val="0D0D1E"/>
          </a:solidFill>
          <a:ln cap="flat" cmpd="sng" w="13625">
            <a:solidFill>
              <a:srgbClr val="00A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6042035" y="1775195"/>
            <a:ext cx="2371800" cy="2821800"/>
          </a:xfrm>
          <a:prstGeom prst="roundRect">
            <a:avLst>
              <a:gd fmla="val 5517" name="adj"/>
            </a:avLst>
          </a:prstGeom>
          <a:solidFill>
            <a:srgbClr val="0D0D1E"/>
          </a:solidFill>
          <a:ln cap="flat" cmpd="sng" w="13625">
            <a:solidFill>
              <a:srgbClr val="FF5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Share the Moment</a:t>
            </a:r>
            <a:endParaRPr b="1" i="0" sz="3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2286000" y="1307592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Tag us at Sea and OpenAI on LinkedIn!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848618" y="1775195"/>
            <a:ext cx="2371800" cy="2821800"/>
          </a:xfrm>
          <a:prstGeom prst="roundRect">
            <a:avLst>
              <a:gd fmla="val 5517" name="adj"/>
            </a:avLst>
          </a:prstGeom>
          <a:solidFill>
            <a:srgbClr val="0D0D1E"/>
          </a:solidFill>
          <a:ln cap="flat" cmpd="sng" w="13625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1666478" y="1955126"/>
            <a:ext cx="735900" cy="735900"/>
          </a:xfrm>
          <a:prstGeom prst="ellipse">
            <a:avLst/>
          </a:prstGeom>
          <a:solidFill>
            <a:srgbClr val="00C6FF">
              <a:alpha val="21960"/>
            </a:srgbClr>
          </a:solidFill>
          <a:ln cap="flat" cmpd="sng" w="17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  <a:effectLst>
            <a:outerShdw blurRad="136311" rotWithShape="0" algn="bl" dir="5400000" dist="45437">
              <a:srgbClr val="00C6FF">
                <a:alpha val="50196"/>
              </a:srgbClr>
            </a:outerShdw>
          </a:effectLst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1666478" y="1955126"/>
            <a:ext cx="73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6"/>
              <a:buFont typeface="Calibri"/>
              <a:buNone/>
            </a:pPr>
            <a:r>
              <a:rPr b="0" i="0" lang="en" sz="232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🛠</a:t>
            </a:r>
            <a:endParaRPr b="0" i="0" sz="23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995832" y="2822066"/>
            <a:ext cx="2077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Georgia"/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are you building?</a:t>
            </a:r>
            <a:endParaRPr b="0" i="0" sz="11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2"/>
          <p:cNvCxnSpPr/>
          <p:nvPr/>
        </p:nvCxnSpPr>
        <p:spPr>
          <a:xfrm>
            <a:off x="1257548" y="3312787"/>
            <a:ext cx="1554000" cy="0"/>
          </a:xfrm>
          <a:prstGeom prst="straightConnector1">
            <a:avLst/>
          </a:prstGeom>
          <a:noFill/>
          <a:ln cap="flat" cmpd="sng" w="9525">
            <a:solidFill>
              <a:srgbClr val="00C6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22"/>
          <p:cNvSpPr/>
          <p:nvPr/>
        </p:nvSpPr>
        <p:spPr>
          <a:xfrm>
            <a:off x="995832" y="3427289"/>
            <a:ext cx="20775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75" lIns="81775" spcFirstLastPara="1" rIns="81775" wrap="square" tIns="4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BB"/>
              </a:buClr>
              <a:buSzPts val="850"/>
              <a:buFont typeface="Trebuchet MS"/>
              <a:buNone/>
            </a:pPr>
            <a:r>
              <a:rPr b="0" i="0" lang="en" sz="850" u="none" cap="none" strike="noStrike">
                <a:solidFill>
                  <a:srgbClr val="9999BB"/>
                </a:solidFill>
                <a:latin typeface="Trebuchet MS"/>
                <a:ea typeface="Trebuchet MS"/>
                <a:cs typeface="Trebuchet MS"/>
                <a:sym typeface="Trebuchet MS"/>
              </a:rPr>
              <a:t>Share a screenshot, demo, or describe the problem you're solving.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4263187" y="1955126"/>
            <a:ext cx="735900" cy="735900"/>
          </a:xfrm>
          <a:prstGeom prst="ellipse">
            <a:avLst/>
          </a:prstGeom>
          <a:solidFill>
            <a:srgbClr val="00A449">
              <a:alpha val="23921"/>
            </a:srgbClr>
          </a:solidFill>
          <a:ln cap="flat" cmpd="sng" w="17050">
            <a:solidFill>
              <a:srgbClr val="00A449"/>
            </a:solidFill>
            <a:prstDash val="solid"/>
            <a:round/>
            <a:headEnd len="sm" w="sm" type="none"/>
            <a:tailEnd len="sm" w="sm" type="none"/>
          </a:ln>
          <a:effectLst>
            <a:outerShdw blurRad="136311" rotWithShape="0" algn="bl" dir="5400000" dist="45437">
              <a:srgbClr val="B721FF">
                <a:alpha val="50196"/>
              </a:srgbClr>
            </a:outerShdw>
          </a:effectLst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3592541" y="2822066"/>
            <a:ext cx="2077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Georgia"/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Who's on your team?</a:t>
            </a:r>
            <a:endParaRPr b="0" i="0" sz="11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22"/>
          <p:cNvCxnSpPr/>
          <p:nvPr/>
        </p:nvCxnSpPr>
        <p:spPr>
          <a:xfrm>
            <a:off x="3854257" y="3312787"/>
            <a:ext cx="1554000" cy="0"/>
          </a:xfrm>
          <a:prstGeom prst="straightConnector1">
            <a:avLst/>
          </a:prstGeom>
          <a:noFill/>
          <a:ln cap="flat" cmpd="sng" w="9525">
            <a:solidFill>
              <a:srgbClr val="00A44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22"/>
          <p:cNvSpPr/>
          <p:nvPr/>
        </p:nvSpPr>
        <p:spPr>
          <a:xfrm>
            <a:off x="3592541" y="3427289"/>
            <a:ext cx="20775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75" lIns="81775" spcFirstLastPara="1" rIns="81775" wrap="square" tIns="4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BB"/>
              </a:buClr>
              <a:buSzPts val="850"/>
              <a:buFont typeface="Trebuchet MS"/>
              <a:buNone/>
            </a:pPr>
            <a:r>
              <a:rPr b="0" i="0" lang="en" sz="850" u="none" cap="none" strike="noStrike">
                <a:solidFill>
                  <a:srgbClr val="9999BB"/>
                </a:solidFill>
                <a:latin typeface="Trebuchet MS"/>
                <a:ea typeface="Trebuchet MS"/>
                <a:cs typeface="Trebuchet MS"/>
                <a:sym typeface="Trebuchet MS"/>
              </a:rPr>
              <a:t>Tag your teammates. Shout them out.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6859896" y="1955126"/>
            <a:ext cx="735900" cy="735900"/>
          </a:xfrm>
          <a:prstGeom prst="ellipse">
            <a:avLst/>
          </a:prstGeom>
          <a:solidFill>
            <a:srgbClr val="FF5621">
              <a:alpha val="25490"/>
            </a:srgbClr>
          </a:solidFill>
          <a:ln cap="flat" cmpd="sng" w="17050">
            <a:solidFill>
              <a:srgbClr val="FF5621"/>
            </a:solidFill>
            <a:prstDash val="solid"/>
            <a:round/>
            <a:headEnd len="sm" w="sm" type="none"/>
            <a:tailEnd len="sm" w="sm" type="none"/>
          </a:ln>
          <a:effectLst>
            <a:outerShdw blurRad="136311" rotWithShape="0" algn="bl" dir="5400000" dist="45437">
              <a:srgbClr val="FF8C00">
                <a:alpha val="50196"/>
              </a:srgbClr>
            </a:outerShdw>
          </a:effectLst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6189250" y="2822066"/>
            <a:ext cx="20775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Georgia"/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does this matter?</a:t>
            </a:r>
            <a:endParaRPr b="0" i="0" sz="11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2"/>
          <p:cNvCxnSpPr/>
          <p:nvPr/>
        </p:nvCxnSpPr>
        <p:spPr>
          <a:xfrm>
            <a:off x="6450965" y="3312787"/>
            <a:ext cx="1554000" cy="0"/>
          </a:xfrm>
          <a:prstGeom prst="straightConnector1">
            <a:avLst/>
          </a:prstGeom>
          <a:noFill/>
          <a:ln cap="flat" cmpd="sng" w="9525">
            <a:solidFill>
              <a:srgbClr val="FF562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2"/>
          <p:cNvSpPr/>
          <p:nvPr/>
        </p:nvSpPr>
        <p:spPr>
          <a:xfrm>
            <a:off x="6189250" y="3427289"/>
            <a:ext cx="20775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75" lIns="81775" spcFirstLastPara="1" rIns="81775" wrap="square" tIns="4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BB"/>
              </a:buClr>
              <a:buSzPts val="850"/>
              <a:buFont typeface="Trebuchet MS"/>
              <a:buNone/>
            </a:pPr>
            <a:r>
              <a:rPr b="0" i="0" lang="en" sz="850" u="none" cap="none" strike="noStrike">
                <a:solidFill>
                  <a:srgbClr val="9999BB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impact of what you're solving.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6859896" y="1955126"/>
            <a:ext cx="73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6"/>
              <a:buFont typeface="Calibri"/>
              <a:buNone/>
            </a:pPr>
            <a:r>
              <a:rPr b="0" i="0" lang="en" sz="232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23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4263187" y="1955126"/>
            <a:ext cx="73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6"/>
              <a:buFont typeface="Calibri"/>
              <a:buNone/>
            </a:pPr>
            <a:r>
              <a:rPr b="0" i="0" lang="en" sz="232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3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Need Help?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502920" y="1828800"/>
            <a:ext cx="3977700" cy="2286000"/>
          </a:xfrm>
          <a:prstGeom prst="rect">
            <a:avLst/>
          </a:prstGeom>
          <a:solidFill>
            <a:srgbClr val="0D1525"/>
          </a:solidFill>
          <a:ln cap="flat" cmpd="sng" w="12700">
            <a:solidFill>
              <a:srgbClr val="1A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502920" y="1828800"/>
            <a:ext cx="1371600" cy="54900"/>
          </a:xfrm>
          <a:prstGeom prst="rect">
            <a:avLst/>
          </a:prstGeom>
          <a:solidFill>
            <a:srgbClr val="4488FF"/>
          </a:solidFill>
          <a:ln cap="flat" cmpd="sng" w="12700">
            <a:solidFill>
              <a:srgbClr val="448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685800" y="1965960"/>
            <a:ext cx="502800" cy="502800"/>
          </a:xfrm>
          <a:prstGeom prst="ellipse">
            <a:avLst/>
          </a:prstGeom>
          <a:solidFill>
            <a:srgbClr val="0D1A35"/>
          </a:solidFill>
          <a:ln cap="flat" cmpd="sng" w="19050">
            <a:solidFill>
              <a:srgbClr val="448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2029968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3"/>
          <p:cNvSpPr/>
          <p:nvPr/>
        </p:nvSpPr>
        <p:spPr>
          <a:xfrm>
            <a:off x="1280147" y="1920250"/>
            <a:ext cx="2225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Wave us over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685800" y="2606040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50"/>
              <a:buFont typeface="Arial"/>
              <a:buNone/>
            </a:pPr>
            <a:r>
              <a:rPr lang="en" sz="1100">
                <a:solidFill>
                  <a:srgbClr val="CCDDEE"/>
                </a:solidFill>
                <a:latin typeface="Open Sans"/>
                <a:ea typeface="Open Sans"/>
                <a:cs typeface="Open Sans"/>
                <a:sym typeface="Open Sans"/>
              </a:rPr>
              <a:t>Spot anyone in an OpenAI × Sea t-shirt and wave us over - we'll come to you.</a:t>
            </a:r>
            <a:endParaRPr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4663440" y="1828800"/>
            <a:ext cx="3977700" cy="2286000"/>
          </a:xfrm>
          <a:prstGeom prst="rect">
            <a:avLst/>
          </a:prstGeom>
          <a:solidFill>
            <a:srgbClr val="141008"/>
          </a:solidFill>
          <a:ln cap="flat" cmpd="sng" w="12700">
            <a:solidFill>
              <a:srgbClr val="2A1F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4663440" y="1828800"/>
            <a:ext cx="1371600" cy="54900"/>
          </a:xfrm>
          <a:prstGeom prst="rect">
            <a:avLst/>
          </a:prstGeom>
          <a:solidFill>
            <a:srgbClr val="FF7722"/>
          </a:solidFill>
          <a:ln cap="flat" cmpd="sng" w="12700">
            <a:solidFill>
              <a:srgbClr val="FF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4846320" y="1965960"/>
            <a:ext cx="502800" cy="502800"/>
          </a:xfrm>
          <a:prstGeom prst="ellipse">
            <a:avLst/>
          </a:prstGeom>
          <a:solidFill>
            <a:srgbClr val="1A100A"/>
          </a:solidFill>
          <a:ln cap="flat" cmpd="sng" w="19050">
            <a:solidFill>
              <a:srgbClr val="FF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20574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3"/>
          <p:cNvSpPr/>
          <p:nvPr/>
        </p:nvSpPr>
        <p:spPr>
          <a:xfrm>
            <a:off x="5440680" y="1920240"/>
            <a:ext cx="1691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FAQ doc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4846320" y="2606040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CCBB"/>
              </a:buClr>
              <a:buSzPts val="1050"/>
              <a:buFont typeface="Arial"/>
              <a:buNone/>
            </a:pPr>
            <a:r>
              <a:rPr lang="en" sz="1100">
                <a:solidFill>
                  <a:srgbClr val="DDCCBB"/>
                </a:solidFill>
                <a:latin typeface="Open Sans"/>
                <a:ea typeface="Open Sans"/>
                <a:cs typeface="Open Sans"/>
                <a:sym typeface="Open Sans"/>
              </a:rPr>
              <a:t>Access</a:t>
            </a:r>
            <a:r>
              <a:rPr i="0" lang="en" sz="1100" u="none" cap="none" strike="noStrike">
                <a:solidFill>
                  <a:srgbClr val="DDCCBB"/>
                </a:solidFill>
                <a:latin typeface="Open Sans"/>
                <a:ea typeface="Open Sans"/>
                <a:cs typeface="Open Sans"/>
                <a:sym typeface="Open Sans"/>
              </a:rPr>
              <a:t> the shared doc </a:t>
            </a:r>
            <a:r>
              <a:rPr i="0" lang="en" sz="1100" u="sng" cap="none" strike="noStrike">
                <a:solidFill>
                  <a:srgbClr val="DDCCBB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i="0" lang="en" sz="1100" u="none" cap="none" strike="noStrike">
                <a:solidFill>
                  <a:srgbClr val="DDCCB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rgbClr val="DDCCBB"/>
                </a:solidFill>
                <a:latin typeface="Open Sans"/>
                <a:ea typeface="Open Sans"/>
                <a:cs typeface="Open Sans"/>
                <a:sym typeface="Open Sans"/>
              </a:rPr>
              <a:t>to check for latest FAQs through the session.</a:t>
            </a:r>
            <a:endParaRPr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